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15.jpg" ContentType="image/jpg"/>
  <Override PartName="/ppt/media/image17.jpg" ContentType="image/jpg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88" r:id="rId2"/>
    <p:sldId id="393" r:id="rId3"/>
    <p:sldId id="3600" r:id="rId4"/>
    <p:sldId id="3601" r:id="rId5"/>
    <p:sldId id="3602" r:id="rId6"/>
    <p:sldId id="3603" r:id="rId7"/>
    <p:sldId id="3604" r:id="rId8"/>
    <p:sldId id="3605" r:id="rId9"/>
    <p:sldId id="261" r:id="rId19"/>
    <p:sldId id="350" r:id="rId20"/>
  </p:sldIdLst>
  <p:sldSz cx="18288000" cy="10287000"/>
  <p:notesSz cx="6858000" cy="9144000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Century Gothic Paneuropean" panose="020B0604020202020204" charset="0"/>
      <p:regular r:id="rId26"/>
    </p:embeddedFont>
    <p:embeddedFont>
      <p:font typeface="Century Gothic Paneuropean Bold" panose="020B0604020202020204" charset="0"/>
      <p:regular r:id="rId27"/>
    </p:embeddedFont>
    <p:embeddedFont>
      <p:font typeface="Cormorant Garamond" panose="020B0604020202020204" charset="0"/>
      <p:regular r:id="rId28"/>
    </p:embeddedFont>
    <p:embeddedFont>
      <p:font typeface="Cormorant Garamond Italics" panose="020B0604020202020204" charset="0"/>
      <p:regular r:id="rId29"/>
    </p:embeddedFont>
    <p:embeddedFont>
      <p:font typeface="Cormorant Garamond Light" panose="020B0604020202020204" charset="0"/>
      <p:regular r:id="rId30"/>
    </p:embeddedFont>
    <p:embeddedFont>
      <p:font typeface="Cormorant Garamond Light Italics" panose="020B0604020202020204" charset="0"/>
      <p:regular r:id="rId31"/>
    </p:embeddedFont>
    <p:embeddedFont>
      <p:font typeface="DM Sans" pitchFamily="2" charset="0"/>
      <p:regular r:id="rId32"/>
      <p:bold r:id="rId33"/>
      <p:italic r:id="rId34"/>
      <p:boldItalic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  <p:embeddedFont>
      <p:font typeface="Montserrat Bold" panose="00000800000000000000" charset="0"/>
      <p:regular r:id="rId40"/>
      <p:bold r:id="rId41"/>
    </p:embeddedFont>
    <p:embeddedFont>
      <p:font typeface="Montserrat Semi-Bold" panose="020B0604020202020204" charset="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BED0FA-43A4-403C-98E9-83028B581B02}">
          <p14:sldIdLst>
            <p14:sldId id="288"/>
            <p14:sldId id="393"/>
            <p14:sldId id="3600"/>
            <p14:sldId id="3601"/>
            <p14:sldId id="3602"/>
            <p14:sldId id="3603"/>
            <p14:sldId id="3604"/>
            <p14:sldId id="3605"/>
            <p14:sldId id="338"/>
            <p14:sldId id="339"/>
            <p14:sldId id="340"/>
            <p14:sldId id="341"/>
            <p14:sldId id="3598"/>
            <p14:sldId id="3599"/>
            <p14:sldId id="283"/>
            <p14:sldId id="284"/>
            <p14:sldId id="285"/>
            <p14:sldId id="261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61B131-1FAA-D310-D451-20C82D1045B3}" name="Jerome Simbulan" initials="JS" userId="S::jerome.simbulan@primephilippines.com::8909d2f2-f929-44d3-98a4-e0a071dc8f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43F"/>
    <a:srgbClr val="10253F"/>
    <a:srgbClr val="FFFFFF"/>
    <a:srgbClr val="021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FD7A8-E788-4BB0-82B7-330E8AF91CE8}" v="13" dt="2026-07-27T07:49:16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>
        <p:scale>
          <a:sx n="33" d="100"/>
          <a:sy n="33" d="100"/>
        </p:scale>
        <p:origin x="1200" y="496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font" Target="fonts/font9.fntdata"/><Relationship Id="rId31" Type="http://schemas.openxmlformats.org/officeDocument/2006/relationships/font" Target="fonts/font10.fntdata"/><Relationship Id="rId32" Type="http://schemas.openxmlformats.org/officeDocument/2006/relationships/font" Target="fonts/font11.fntdata"/><Relationship Id="rId33" Type="http://schemas.openxmlformats.org/officeDocument/2006/relationships/font" Target="fonts/font12.fntdata"/><Relationship Id="rId34" Type="http://schemas.openxmlformats.org/officeDocument/2006/relationships/font" Target="fonts/font13.fntdata"/><Relationship Id="rId35" Type="http://schemas.openxmlformats.org/officeDocument/2006/relationships/font" Target="fonts/font14.fntdata"/><Relationship Id="rId36" Type="http://schemas.openxmlformats.org/officeDocument/2006/relationships/font" Target="fonts/font15.fntdata"/><Relationship Id="rId37" Type="http://schemas.openxmlformats.org/officeDocument/2006/relationships/font" Target="fonts/font16.fntdata"/><Relationship Id="rId38" Type="http://schemas.openxmlformats.org/officeDocument/2006/relationships/font" Target="fonts/font17.fntdata"/><Relationship Id="rId39" Type="http://schemas.openxmlformats.org/officeDocument/2006/relationships/font" Target="fonts/font18.fntdata"/><Relationship Id="rId40" Type="http://schemas.openxmlformats.org/officeDocument/2006/relationships/font" Target="fonts/font19.fntdata"/><Relationship Id="rId41" Type="http://schemas.openxmlformats.org/officeDocument/2006/relationships/font" Target="fonts/font20.fntdata"/><Relationship Id="rId42" Type="http://schemas.openxmlformats.org/officeDocument/2006/relationships/font" Target="fonts/font21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5/10/relationships/revisionInfo" Target="revisionInfo.xml"/><Relationship Id="rId48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VALUE</a:t>
            </a:r>
          </a:p>
          <a:p>
            <a:r>
              <a:rPr lang="en-US"/>
              <a:t>Thank you for giving us the opportunity to show how we can bring value to your organization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74662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VALUE</a:t>
            </a:r>
          </a:p>
          <a:p>
            <a:r>
              <a:rPr lang="en-US"/>
              <a:t>Thank you for giving us the opportunity to show how we can bring value to your organization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771D0-259F-7F62-104D-3EC502F7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627232-5202-A7CD-5FB8-B34C7525BC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7B700-8E0C-6BDF-210A-72E4FA61BD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E6EEF8-2235-A753-6EBE-01BE7DFEE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D1868E-8F6B-09DC-F4CB-6AC99ACB2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39E68-365A-EBEA-E8F1-602E362B3E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3CF38-1355-6410-F430-84D8D735C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10102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B51B-B637-15BC-B3B2-683D7C78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393C5C-A4AE-A48A-760B-3AFAA192CB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BBAE9-0053-9399-30F7-90179412D9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BE178FA-358E-12BD-9BCD-5F7A2AABA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4ADB9C1-EB4E-45B5-86EF-04AB9438E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FBDF9-0E84-329B-7CCC-8423BF66EE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5926-EFAB-56A6-4901-2937ABE10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38316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771D0-259F-7F62-104D-3EC502F7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627232-5202-A7CD-5FB8-B34C7525BC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7B700-8E0C-6BDF-210A-72E4FA61BD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E6EEF8-2235-A753-6EBE-01BE7DFEE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D1868E-8F6B-09DC-F4CB-6AC99ACB2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39E68-365A-EBEA-E8F1-602E362B3E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3CF38-1355-6410-F430-84D8D735C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6755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B51B-B637-15BC-B3B2-683D7C78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393C5C-A4AE-A48A-760B-3AFAA192CB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BBAE9-0053-9399-30F7-90179412D9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BE178FA-358E-12BD-9BCD-5F7A2AABA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4ADB9C1-EB4E-45B5-86EF-04AB9438E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FBDF9-0E84-329B-7CCC-8423BF66EE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5926-EFAB-56A6-4901-2937ABE10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70632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771D0-259F-7F62-104D-3EC502F7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627232-5202-A7CD-5FB8-B34C7525BC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7B700-8E0C-6BDF-210A-72E4FA61BD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E6EEF8-2235-A753-6EBE-01BE7DFEE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D1868E-8F6B-09DC-F4CB-6AC99ACB2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39E68-365A-EBEA-E8F1-602E362B3E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3CF38-1355-6410-F430-84D8D735C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06716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B51B-B637-15BC-B3B2-683D7C78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393C5C-A4AE-A48A-760B-3AFAA192CB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BBAE9-0053-9399-30F7-90179412D9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BE178FA-358E-12BD-9BCD-5F7A2AABA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4ADB9C1-EB4E-45B5-86EF-04AB9438E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FBDF9-0E84-329B-7CCC-8423BF66EE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5926-EFAB-56A6-4901-2937ABE10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56861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VALUE</a:t>
            </a:r>
          </a:p>
          <a:p>
            <a:r>
              <a:rPr lang="en-US"/>
              <a:t>Thank you for giving us the opportunity to show how we can bring value to your organization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8.png"/><Relationship Id="rId6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8.png"/><Relationship Id="rId6" Type="http://schemas.openxmlformats.org/officeDocument/2006/relationships/image" Target="../media/image1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34.jpeg"/><Relationship Id="rId7" Type="http://schemas.openxmlformats.org/officeDocument/2006/relationships/image" Target="../media/image35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05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362534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591718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954252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33350" y="534611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229184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591718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954252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97885" y="6383963"/>
            <a:ext cx="9593957" cy="112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Available Warehouse Properties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376931" y="8736381"/>
            <a:ext cx="1170006" cy="895542"/>
          </a:xfrm>
          <a:custGeom>
            <a:avLst/>
            <a:gdLst/>
            <a:ahLst/>
            <a:cxnLst/>
            <a:rect l="l" t="t" r="r" b="b"/>
            <a:pathLst>
              <a:path w="1170006" h="895542">
                <a:moveTo>
                  <a:pt x="0" y="0"/>
                </a:moveTo>
                <a:lnTo>
                  <a:pt x="1170007" y="0"/>
                </a:lnTo>
                <a:lnTo>
                  <a:pt x="1170007" y="895542"/>
                </a:lnTo>
                <a:lnTo>
                  <a:pt x="0" y="895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7885" y="7886700"/>
            <a:ext cx="15021731" cy="1124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Strategic Logistics Locations</a:t>
            </a:r>
          </a:p>
        </p:txBody>
      </p:sp>
    </p:spTree>
    <p:extLst>
      <p:ext uri="{BB962C8B-B14F-4D97-AF65-F5344CB8AC3E}">
        <p14:creationId xmlns:p14="http://schemas.microsoft.com/office/powerpoint/2010/main" val="2683352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61" y="3464574"/>
            <a:ext cx="1908564" cy="2265868"/>
            <a:chOff x="0" y="0"/>
            <a:chExt cx="28600182" cy="14307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/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/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440965" y="781050"/>
            <a:ext cx="3406070" cy="915381"/>
          </a:xfrm>
          <a:custGeom>
            <a:avLst/>
            <a:gdLst/>
            <a:ahLst/>
            <a:cxnLst/>
            <a:rect l="l" t="t" r="r" b="b"/>
            <a:pathLst>
              <a:path w="3406070" h="915381">
                <a:moveTo>
                  <a:pt x="0" y="0"/>
                </a:moveTo>
                <a:lnTo>
                  <a:pt x="3406070" y="0"/>
                </a:lnTo>
                <a:lnTo>
                  <a:pt x="3406070" y="915381"/>
                </a:lnTo>
                <a:lnTo>
                  <a:pt x="0" y="915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4" name="Group 14"/>
          <p:cNvGrpSpPr/>
          <p:nvPr/>
        </p:nvGrpSpPr>
        <p:grpSpPr>
          <a:xfrm>
            <a:off x="0" y="10112604"/>
            <a:ext cx="18288000" cy="174396"/>
            <a:chOff x="0" y="0"/>
            <a:chExt cx="4816593" cy="459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45931"/>
            </a:xfrm>
            <a:custGeom>
              <a:avLst/>
              <a:gdLst/>
              <a:ahLst/>
              <a:cxnLst/>
              <a:rect l="l" t="t" r="r" b="b"/>
              <a:pathLst>
                <a:path w="4816592" h="45931">
                  <a:moveTo>
                    <a:pt x="0" y="0"/>
                  </a:moveTo>
                  <a:lnTo>
                    <a:pt x="4816592" y="0"/>
                  </a:lnTo>
                  <a:lnTo>
                    <a:pt x="4816592" y="45931"/>
                  </a:lnTo>
                  <a:lnTo>
                    <a:pt x="0" y="45931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816593" cy="55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1028700" y="6228502"/>
            <a:ext cx="16230600" cy="0"/>
          </a:xfrm>
          <a:prstGeom prst="line">
            <a:avLst/>
          </a:prstGeom>
          <a:ln w="50800" cap="flat">
            <a:solidFill>
              <a:srgbClr val="0033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Box 19"/>
          <p:cNvSpPr txBox="1"/>
          <p:nvPr/>
        </p:nvSpPr>
        <p:spPr>
          <a:xfrm>
            <a:off x="1149532" y="6633896"/>
            <a:ext cx="2885756" cy="277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7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PREPARED BY: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8582" y="7129196"/>
            <a:ext cx="7434866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endParaRPr lang="en-US" sz="2200" b="1">
              <a:solidFill>
                <a:srgbClr val="000000"/>
              </a:solidFill>
              <a:latin typeface="Montserrat Semi-Bold"/>
              <a:ea typeface="Montserrat Semi-Bold"/>
              <a:cs typeface="Montserrat Semi-Bold"/>
            </a:endParaRPr>
          </a:p>
          <a:p>
            <a:pPr algn="l">
              <a:lnSpc>
                <a:spcPts val="2640"/>
              </a:lnSpc>
            </a:pPr>
            <a:endParaRPr lang="en-US" sz="2200" b="1">
              <a:solidFill>
                <a:srgbClr val="000000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98502" y="7114473"/>
            <a:ext cx="454811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Cedtrix Rena</a:t>
            </a:r>
          </a:p>
          <a:p>
            <a:r>
              <a:t>Sr. Leasing Advisor</a:t>
            </a:r>
          </a:p>
          <a:p>
            <a:r>
              <a:t>PRIME Philippines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73190" y="6633896"/>
            <a:ext cx="2933126" cy="277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7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PREPARED FOR:</a:t>
            </a:r>
          </a:p>
        </p:txBody>
      </p:sp>
      <p:sp>
        <p:nvSpPr>
          <p:cNvPr id="25" name="AutoShape 6" descr="‎UNIQLO AU on the App Store">
            <a:extLst>
              <a:ext uri="{FF2B5EF4-FFF2-40B4-BE49-F238E27FC236}">
                <a16:creationId xmlns:a16="http://schemas.microsoft.com/office/drawing/2014/main" id="{5511D4F5-A3CA-176A-7E7C-BC5FAE61DB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22" name="TextBox 23">
            <a:extLst>
              <a:ext uri="{FF2B5EF4-FFF2-40B4-BE49-F238E27FC236}">
                <a16:creationId xmlns:a16="http://schemas.microsoft.com/office/drawing/2014/main" id="{3A31A0C5-EB9E-4EF9-49B7-AD9BF96A59F0}"/>
              </a:ext>
            </a:extLst>
          </p:cNvPr>
          <p:cNvSpPr txBox="1"/>
          <p:nvPr/>
        </p:nvSpPr>
        <p:spPr>
          <a:xfrm>
            <a:off x="6879825" y="2224255"/>
            <a:ext cx="4766743" cy="559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WAREHOUSE FACILITIES PROPOSAL FOR</a:t>
            </a:r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FE1689E2-15F1-89D9-7AD3-1A750CDB0559}"/>
              </a:ext>
            </a:extLst>
          </p:cNvPr>
          <p:cNvSpPr txBox="1"/>
          <p:nvPr/>
        </p:nvSpPr>
        <p:spPr>
          <a:xfrm>
            <a:off x="10040570" y="7144136"/>
            <a:ext cx="454811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Valued Client</a:t>
            </a:r>
          </a:p>
          <a:p>
            <a:r>
              <a:t>Logistics &amp; Supply Chain Management</a:t>
            </a:r>
          </a:p>
          <a:p>
            <a:r>
              <a:t>Flash Express Logistics</a:t>
            </a: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6C60545A-C96B-9B52-0D25-41475205D097}"/>
              </a:ext>
            </a:extLst>
          </p:cNvPr>
          <p:cNvSpPr txBox="1"/>
          <p:nvPr/>
        </p:nvSpPr>
        <p:spPr>
          <a:xfrm>
            <a:off x="6341902" y="5689966"/>
            <a:ext cx="5908996" cy="277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FLASH EXPRESS LOGISTICS</a:t>
            </a:r>
          </a:p>
        </p:txBody>
      </p:sp>
      <p:pic>
        <p:nvPicPr>
          <p:cNvPr id="1026" name="Picture 2" descr="S.F. Express logo in transparent PNG and vectorized SVG formats">
            <a:extLst>
              <a:ext uri="{FF2B5EF4-FFF2-40B4-BE49-F238E27FC236}">
                <a16:creationId xmlns:a16="http://schemas.microsoft.com/office/drawing/2014/main" id="{6CF038B2-F65D-4FC0-B862-5D5C18B69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201" y="3101448"/>
            <a:ext cx="2173594" cy="217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66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AEDF-22BF-4D70-9116-5310D355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E296E3-AE5F-B3F5-49E5-41AF61BAEFBB}"/>
              </a:ext>
            </a:extLst>
          </p:cNvPr>
          <p:cNvGrpSpPr/>
          <p:nvPr/>
        </p:nvGrpSpPr>
        <p:grpSpPr>
          <a:xfrm>
            <a:off x="-234695" y="14287"/>
            <a:ext cx="18522691" cy="9979140"/>
            <a:chOff x="0" y="0"/>
            <a:chExt cx="28600182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CF6D3D-1334-1CF4-7D3A-A2646BEBB60D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8A3BBA-E610-F26A-8FCC-08DC0BD63264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84B01C1-AA66-C9AE-01B7-F5E91EFEC8EE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605472-17DD-B29E-1F13-FCD46804B4E3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AF0C7E0-3043-A8CE-3FA6-EFB195EE7F97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D544C7-0DC7-8137-5C0F-05AF42C7B88E}"/>
                </a:ext>
              </a:extLst>
            </p:cNvPr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A5FD68D-1D3D-533F-CF6A-545EC14E740F}"/>
                </a:ext>
              </a:extLst>
            </p:cNvPr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AADF30C-02B1-0E97-FB30-19D38943AE54}"/>
                </a:ext>
              </a:extLst>
            </p:cNvPr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7458918-FCC2-D6AA-50CC-BD00E875EDE2}"/>
              </a:ext>
            </a:extLst>
          </p:cNvPr>
          <p:cNvGrpSpPr/>
          <p:nvPr/>
        </p:nvGrpSpPr>
        <p:grpSpPr>
          <a:xfrm>
            <a:off x="0" y="9993427"/>
            <a:ext cx="18288000" cy="454842"/>
            <a:chOff x="0" y="0"/>
            <a:chExt cx="4816593" cy="11979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54E2197-1EB4-F568-37A5-059F80FE7B13}"/>
                </a:ext>
              </a:extLst>
            </p:cNvPr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62C69BA-E765-88C4-6348-D0D95B1F7AA4}"/>
                </a:ext>
              </a:extLst>
            </p:cNvPr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C32DD1EA-14F1-4C37-3EDC-D73FEB18B1A9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149FD88-9EB0-46F9-AFAA-60086601D2A1}"/>
              </a:ext>
            </a:extLst>
          </p:cNvPr>
          <p:cNvSpPr txBox="1"/>
          <p:nvPr/>
        </p:nvSpPr>
        <p:spPr>
          <a:xfrm>
            <a:off x="509239" y="530529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comparison proposal for their South Luzon hub expansion.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012B5A4-AAB9-87E5-A287-23923D5C33D2}"/>
              </a:ext>
            </a:extLst>
          </p:cNvPr>
          <p:cNvSpPr txBox="1"/>
          <p:nvPr/>
        </p:nvSpPr>
        <p:spPr>
          <a:xfrm>
            <a:off x="550891" y="953545"/>
            <a:ext cx="6833680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Laguna, Philippines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63F595A-1927-0443-7A99-6570BBCCA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447336"/>
              </p:ext>
            </p:extLst>
          </p:nvPr>
        </p:nvGraphicFramePr>
        <p:xfrm>
          <a:off x="347835" y="1915721"/>
          <a:ext cx="7795565" cy="3520691"/>
        </p:xfrm>
        <a:graphic>
          <a:graphicData uri="http://schemas.openxmlformats.org/drawingml/2006/table">
            <a:tbl>
              <a:tblPr/>
              <a:tblGrid>
                <a:gridCol w="3246265">
                  <a:extLst>
                    <a:ext uri="{9D8B030D-6E8A-4147-A177-3AD203B41FA5}">
                      <a16:colId xmlns:a16="http://schemas.microsoft.com/office/drawing/2014/main" val="392589609"/>
                    </a:ext>
                  </a:extLst>
                </a:gridCol>
                <a:gridCol w="4549300">
                  <a:extLst>
                    <a:ext uri="{9D8B030D-6E8A-4147-A177-3AD203B41FA5}">
                      <a16:colId xmlns:a16="http://schemas.microsoft.com/office/drawing/2014/main" val="2588734391"/>
                    </a:ext>
                  </a:extLst>
                </a:gridCol>
              </a:tblGrid>
              <a:tr h="637473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AVAILABLE UNITS FOR LEASE</a:t>
                      </a:r>
                      <a:r>
                        <a:rPr lang="en-PH" sz="28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​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6809671"/>
                  </a:ext>
                </a:extLst>
              </a:tr>
              <a:tr h="31009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Area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H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Size</a:t>
                      </a:r>
                      <a:r>
                        <a:rPr lang="en-PH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426538"/>
                  </a:ext>
                </a:extLst>
              </a:tr>
              <a:tr h="699515">
                <a:tc>
                  <a:txBody>
                    <a:bodyPr/>
                    <a:lstStyle/>
                    <a:p>
                      <a:pPr algn="ctr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Covered Area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sz="1800" b="1" i="0">
                          <a:solidFill>
                            <a:srgbClr val="003366"/>
                          </a:solidFill>
                          <a:latin typeface="Century Gothic"/>
                        </a:rPr>
                        <a:t>5,000 sqm</a:t>
                      </a:r>
                      <a:endParaRPr lang="en-US" sz="1800" dirty="0"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429958"/>
                  </a:ext>
                </a:extLst>
              </a:tr>
              <a:tr h="856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Open Yard</a:t>
                      </a:r>
                      <a:endParaRPr lang="en-US" sz="1800" b="0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latin typeface="Century Gothic"/>
                        </a:rPr>
                        <a:t>1,000 sqm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16256"/>
                  </a:ext>
                </a:extLst>
              </a:tr>
              <a:tr h="96182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solidFill>
                            <a:srgbClr val="003366"/>
                          </a:solidFill>
                          <a:latin typeface="Century Gothic"/>
                        </a:rPr>
                        <a:t>TOTAL LEASABLE AREA</a:t>
                      </a:r>
                      <a:endParaRPr lang="en-US" sz="1800" b="1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latin typeface="Century Gothic"/>
                        </a:rPr>
                        <a:t>5,000 sqm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8784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5679A0D-60DB-6EC0-E2F2-D26125E7C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321000"/>
              </p:ext>
            </p:extLst>
          </p:nvPr>
        </p:nvGraphicFramePr>
        <p:xfrm>
          <a:off x="289497" y="5772130"/>
          <a:ext cx="7853903" cy="3917328"/>
        </p:xfrm>
        <a:graphic>
          <a:graphicData uri="http://schemas.openxmlformats.org/drawingml/2006/table">
            <a:tbl>
              <a:tblPr/>
              <a:tblGrid>
                <a:gridCol w="3329246">
                  <a:extLst>
                    <a:ext uri="{9D8B030D-6E8A-4147-A177-3AD203B41FA5}">
                      <a16:colId xmlns:a16="http://schemas.microsoft.com/office/drawing/2014/main" val="2100264254"/>
                    </a:ext>
                  </a:extLst>
                </a:gridCol>
                <a:gridCol w="4524657">
                  <a:extLst>
                    <a:ext uri="{9D8B030D-6E8A-4147-A177-3AD203B41FA5}">
                      <a16:colId xmlns:a16="http://schemas.microsoft.com/office/drawing/2014/main" val="1935730497"/>
                    </a:ext>
                  </a:extLst>
                </a:gridCol>
              </a:tblGrid>
              <a:tr h="512486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LEASE TERMS AND CONDITION</a:t>
                      </a:r>
                      <a:r>
                        <a:rPr lang="en-PH" sz="2100" b="0" i="0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​​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126086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Rate (Covered)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Php 350.00/sqm + VAT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35403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Escalation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2060"/>
                          </a:solidFill>
                          <a:latin typeface="Century Gothic"/>
                        </a:rPr>
                        <a:t>5% Yearly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78072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Min. Lease Term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Years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39804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Advance Rent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3481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Security Deposit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3252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</a:rPr>
                        <a:t>Advance Rent </a:t>
                      </a:r>
                      <a:r>
                        <a:rPr lang="en-PH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Three (3) months</a:t>
                      </a:r>
                      <a:r>
                        <a:rPr lang="en-PH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 </a:t>
                      </a:r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+ PDCs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180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</a:rPr>
                        <a:t>Security Deposit</a:t>
                      </a:r>
                      <a:r>
                        <a:rPr lang="en-PH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Three (3)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57182"/>
                  </a:ext>
                </a:extLst>
              </a:tr>
            </a:tbl>
          </a:graphicData>
        </a:graphic>
      </p:graphicFrame>
      <p:sp>
        <p:nvSpPr>
          <p:cNvPr id="17" name="AutoShape 4" descr=", AI generated">
            <a:extLst>
              <a:ext uri="{FF2B5EF4-FFF2-40B4-BE49-F238E27FC236}">
                <a16:creationId xmlns:a16="http://schemas.microsoft.com/office/drawing/2014/main" id="{8F0B097F-817A-C130-DC55-4F3AD909DF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35B37818-5526-7574-6F06-3EF3C9DEFB5E}"/>
              </a:ext>
            </a:extLst>
          </p:cNvPr>
          <p:cNvSpPr/>
          <p:nvPr/>
        </p:nvSpPr>
        <p:spPr>
          <a:xfrm>
            <a:off x="8624413" y="8480857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85BD35-E803-B24C-BB84-DBE3AF5383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560" y="2196901"/>
            <a:ext cx="9533943" cy="71504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0608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16A8-DB78-D3C3-1061-CE2B352D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81F1E9-2F31-2336-025D-92845AECDF65}"/>
              </a:ext>
            </a:extLst>
          </p:cNvPr>
          <p:cNvGrpSpPr/>
          <p:nvPr/>
        </p:nvGrpSpPr>
        <p:grpSpPr>
          <a:xfrm>
            <a:off x="-152400" y="0"/>
            <a:ext cx="18287996" cy="9993427"/>
            <a:chOff x="0" y="0"/>
            <a:chExt cx="28600181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DA01D6-CA97-C21E-ECCC-3052B295E21A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8136058-B36A-6F83-679D-14159F515022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D47BAB4-7265-90DC-6934-435D67BBA3BC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FB7B9C-3EE2-93F5-8BA3-1E0F70A01321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6AA59E1-67DA-11A5-BC28-58CFA77693EA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18467C-C77A-BA2A-35C0-E26D4D5294D5}"/>
                </a:ext>
              </a:extLst>
            </p:cNvPr>
            <p:cNvSpPr/>
            <p:nvPr/>
          </p:nvSpPr>
          <p:spPr>
            <a:xfrm>
              <a:off x="7150046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789D5FC-FF70-B51A-F242-E83171E35C6D}"/>
                </a:ext>
              </a:extLst>
            </p:cNvPr>
            <p:cNvSpPr/>
            <p:nvPr/>
          </p:nvSpPr>
          <p:spPr>
            <a:xfrm>
              <a:off x="14300091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FA2B09-3ED0-9434-3FCE-A43A527004BC}"/>
                </a:ext>
              </a:extLst>
            </p:cNvPr>
            <p:cNvSpPr/>
            <p:nvPr/>
          </p:nvSpPr>
          <p:spPr>
            <a:xfrm>
              <a:off x="21450135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F5A0685-9A7A-6DD0-B45D-E7742901CCBD}"/>
              </a:ext>
            </a:extLst>
          </p:cNvPr>
          <p:cNvSpPr txBox="1"/>
          <p:nvPr/>
        </p:nvSpPr>
        <p:spPr>
          <a:xfrm>
            <a:off x="564150" y="805180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6199">
                <a:solidFill>
                  <a:srgbClr val="021A3D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Property Details </a:t>
            </a:r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1C509624-4BD1-29AE-AEFC-DDABE75B4A51}"/>
              </a:ext>
            </a:extLst>
          </p:cNvPr>
          <p:cNvSpPr/>
          <p:nvPr/>
        </p:nvSpPr>
        <p:spPr>
          <a:xfrm>
            <a:off x="0" y="9993427"/>
            <a:ext cx="18287996" cy="454842"/>
          </a:xfrm>
          <a:custGeom>
            <a:avLst/>
            <a:gdLst/>
            <a:ahLst/>
            <a:cxnLst/>
            <a:rect l="l" t="t" r="r" b="b"/>
            <a:pathLst>
              <a:path w="4816592" h="119794">
                <a:moveTo>
                  <a:pt x="0" y="0"/>
                </a:moveTo>
                <a:lnTo>
                  <a:pt x="4816592" y="0"/>
                </a:lnTo>
                <a:lnTo>
                  <a:pt x="4816592" y="119794"/>
                </a:lnTo>
                <a:lnTo>
                  <a:pt x="0" y="119794"/>
                </a:lnTo>
                <a:close/>
              </a:path>
            </a:pathLst>
          </a:custGeom>
          <a:gradFill rotWithShape="1">
            <a:gsLst>
              <a:gs pos="0">
                <a:srgbClr val="0C0C0E">
                  <a:alpha val="100000"/>
                </a:srgbClr>
              </a:gs>
              <a:gs pos="50000">
                <a:srgbClr val="003366">
                  <a:alpha val="100000"/>
                </a:srgbClr>
              </a:gs>
              <a:gs pos="100000">
                <a:srgbClr val="C9A84C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en-PH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025E4838-602D-F096-5D48-77210600D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458812"/>
            <a:ext cx="208597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reeform 14">
            <a:extLst>
              <a:ext uri="{FF2B5EF4-FFF2-40B4-BE49-F238E27FC236}">
                <a16:creationId xmlns:a16="http://schemas.microsoft.com/office/drawing/2014/main" id="{8B8B3AC5-74CC-1821-6AD7-17EE9BD843A7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305DC78-04BD-72E1-84E2-4908DC314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42019"/>
              </p:ext>
            </p:extLst>
          </p:nvPr>
        </p:nvGraphicFramePr>
        <p:xfrm>
          <a:off x="509238" y="7217536"/>
          <a:ext cx="7077025" cy="21387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6918">
                  <a:extLst>
                    <a:ext uri="{9D8B030D-6E8A-4147-A177-3AD203B41FA5}">
                      <a16:colId xmlns:a16="http://schemas.microsoft.com/office/drawing/2014/main" val="1407389506"/>
                    </a:ext>
                  </a:extLst>
                </a:gridCol>
                <a:gridCol w="4150107">
                  <a:extLst>
                    <a:ext uri="{9D8B030D-6E8A-4147-A177-3AD203B41FA5}">
                      <a16:colId xmlns:a16="http://schemas.microsoft.com/office/drawing/2014/main" val="467239703"/>
                    </a:ext>
                  </a:extLst>
                </a:gridCol>
              </a:tblGrid>
              <a:tr h="510158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15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ACCESSIBILITY</a:t>
                      </a:r>
                      <a:endParaRPr lang="en-US" sz="2100" b="0" i="0" dirty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510922"/>
                  </a:ext>
                </a:extLst>
              </a:tr>
              <a:tr h="392430">
                <a:tc gridSpan="2">
                  <a:txBody>
                    <a:bodyPr/>
                    <a:lstStyle/>
                    <a:p>
                      <a:pPr marL="7620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Distance from: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711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46650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National Highway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1.0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89027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Expressway Exit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3.5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511834"/>
                  </a:ext>
                </a:extLst>
              </a:tr>
              <a:tr h="372809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Manila Port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45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13628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BDC076A-016B-4144-3270-248E5BC85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491927"/>
              </p:ext>
            </p:extLst>
          </p:nvPr>
        </p:nvGraphicFramePr>
        <p:xfrm>
          <a:off x="509239" y="1706520"/>
          <a:ext cx="7077025" cy="52973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89530">
                  <a:extLst>
                    <a:ext uri="{9D8B030D-6E8A-4147-A177-3AD203B41FA5}">
                      <a16:colId xmlns:a16="http://schemas.microsoft.com/office/drawing/2014/main" val="1989019544"/>
                    </a:ext>
                  </a:extLst>
                </a:gridCol>
                <a:gridCol w="4287495">
                  <a:extLst>
                    <a:ext uri="{9D8B030D-6E8A-4147-A177-3AD203B41FA5}">
                      <a16:colId xmlns:a16="http://schemas.microsoft.com/office/drawing/2014/main" val="3021649425"/>
                    </a:ext>
                  </a:extLst>
                </a:gridCol>
              </a:tblGrid>
              <a:tr h="664772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75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SPECIFICATIONS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000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440112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Loading Area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253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Elevated loading bays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91646"/>
                  </a:ext>
                </a:extLst>
              </a:tr>
              <a:tr h="517045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APEX Height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12-14 meters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239624"/>
                  </a:ext>
                </a:extLst>
              </a:tr>
              <a:tr h="553976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Vehicle Capacity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Up to 40 ft. trucks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412738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Electrical Load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Three Phase Ready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444271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Ideal Use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Storage / Logistics / Distribution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33430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Gated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Yes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88835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Electrical Load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Three Phase Ready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547600"/>
                  </a:ext>
                </a:extLst>
              </a:tr>
              <a:tr h="611067"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spc="-75" dirty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Ideal Use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Storage / Distribution</a:t>
                      </a:r>
                      <a:r>
                        <a:rPr lang="en-US" sz="1800" b="0" i="0" spc="0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 </a:t>
                      </a: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Centers / Manufacturing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009018"/>
                  </a:ext>
                </a:extLst>
              </a:tr>
              <a:tr h="549971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 dirty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Others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FDAS &amp; Sprinklers / Sewage Treatment</a:t>
                      </a:r>
                      <a:b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</a:b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 Plant / Cistern Tank / Backup Genset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86474"/>
                  </a:ext>
                </a:extLst>
              </a:tr>
            </a:tbl>
          </a:graphicData>
        </a:graphic>
      </p:graphicFrame>
      <p:sp>
        <p:nvSpPr>
          <p:cNvPr id="23" name="Freeform 14">
            <a:extLst>
              <a:ext uri="{FF2B5EF4-FFF2-40B4-BE49-F238E27FC236}">
                <a16:creationId xmlns:a16="http://schemas.microsoft.com/office/drawing/2014/main" id="{D4BD1B25-6C7B-0DCF-174A-23D44AEA536B}"/>
              </a:ext>
            </a:extLst>
          </p:cNvPr>
          <p:cNvSpPr/>
          <p:nvPr/>
        </p:nvSpPr>
        <p:spPr>
          <a:xfrm>
            <a:off x="8257482" y="7939975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AEEB32-4F2E-1CF3-BD02-AA29EAD8C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939" y="1966069"/>
            <a:ext cx="9856666" cy="74649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257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AEDF-22BF-4D70-9116-5310D355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E296E3-AE5F-B3F5-49E5-41AF61BAEFBB}"/>
              </a:ext>
            </a:extLst>
          </p:cNvPr>
          <p:cNvGrpSpPr/>
          <p:nvPr/>
        </p:nvGrpSpPr>
        <p:grpSpPr>
          <a:xfrm>
            <a:off x="-234695" y="14287"/>
            <a:ext cx="18522691" cy="9979140"/>
            <a:chOff x="0" y="0"/>
            <a:chExt cx="28600182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CF6D3D-1334-1CF4-7D3A-A2646BEBB60D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8A3BBA-E610-F26A-8FCC-08DC0BD63264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84B01C1-AA66-C9AE-01B7-F5E91EFEC8EE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605472-17DD-B29E-1F13-FCD46804B4E3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AF0C7E0-3043-A8CE-3FA6-EFB195EE7F97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D544C7-0DC7-8137-5C0F-05AF42C7B88E}"/>
                </a:ext>
              </a:extLst>
            </p:cNvPr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A5FD68D-1D3D-533F-CF6A-545EC14E740F}"/>
                </a:ext>
              </a:extLst>
            </p:cNvPr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AADF30C-02B1-0E97-FB30-19D38943AE54}"/>
                </a:ext>
              </a:extLst>
            </p:cNvPr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7458918-FCC2-D6AA-50CC-BD00E875EDE2}"/>
              </a:ext>
            </a:extLst>
          </p:cNvPr>
          <p:cNvGrpSpPr/>
          <p:nvPr/>
        </p:nvGrpSpPr>
        <p:grpSpPr>
          <a:xfrm>
            <a:off x="0" y="9993427"/>
            <a:ext cx="18288000" cy="454842"/>
            <a:chOff x="0" y="0"/>
            <a:chExt cx="4816593" cy="11979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54E2197-1EB4-F568-37A5-059F80FE7B13}"/>
                </a:ext>
              </a:extLst>
            </p:cNvPr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62C69BA-E765-88C4-6348-D0D95B1F7AA4}"/>
                </a:ext>
              </a:extLst>
            </p:cNvPr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C32DD1EA-14F1-4C37-3EDC-D73FEB18B1A9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149FD88-9EB0-46F9-AFAA-60086601D2A1}"/>
              </a:ext>
            </a:extLst>
          </p:cNvPr>
          <p:cNvSpPr txBox="1"/>
          <p:nvPr/>
        </p:nvSpPr>
        <p:spPr>
          <a:xfrm>
            <a:off x="509239" y="530529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1: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012B5A4-AAB9-87E5-A287-23923D5C33D2}"/>
              </a:ext>
            </a:extLst>
          </p:cNvPr>
          <p:cNvSpPr txBox="1"/>
          <p:nvPr/>
        </p:nvSpPr>
        <p:spPr>
          <a:xfrm>
            <a:off x="550891" y="953545"/>
            <a:ext cx="6833680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Cabuyao, Laguna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63F595A-1927-0443-7A99-6570BBCCA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597328"/>
              </p:ext>
            </p:extLst>
          </p:nvPr>
        </p:nvGraphicFramePr>
        <p:xfrm>
          <a:off x="347835" y="1915721"/>
          <a:ext cx="7795565" cy="3520691"/>
        </p:xfrm>
        <a:graphic>
          <a:graphicData uri="http://schemas.openxmlformats.org/drawingml/2006/table">
            <a:tbl>
              <a:tblPr/>
              <a:tblGrid>
                <a:gridCol w="3246265">
                  <a:extLst>
                    <a:ext uri="{9D8B030D-6E8A-4147-A177-3AD203B41FA5}">
                      <a16:colId xmlns:a16="http://schemas.microsoft.com/office/drawing/2014/main" val="392589609"/>
                    </a:ext>
                  </a:extLst>
                </a:gridCol>
                <a:gridCol w="4549300">
                  <a:extLst>
                    <a:ext uri="{9D8B030D-6E8A-4147-A177-3AD203B41FA5}">
                      <a16:colId xmlns:a16="http://schemas.microsoft.com/office/drawing/2014/main" val="2588734391"/>
                    </a:ext>
                  </a:extLst>
                </a:gridCol>
              </a:tblGrid>
              <a:tr h="637473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AVAILABLE UNITS FOR LEASE</a:t>
                      </a:r>
                      <a:r>
                        <a:rPr lang="en-PH" sz="28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​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6809671"/>
                  </a:ext>
                </a:extLst>
              </a:tr>
              <a:tr h="31009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Area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H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Size</a:t>
                      </a:r>
                      <a:r>
                        <a:rPr lang="en-PH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426538"/>
                  </a:ext>
                </a:extLst>
              </a:tr>
              <a:tr h="699515">
                <a:tc>
                  <a:txBody>
                    <a:bodyPr/>
                    <a:lstStyle/>
                    <a:p>
                      <a:pPr algn="ctr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Covered Area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sz="1800" b="1" i="0">
                          <a:solidFill>
                            <a:srgbClr val="003366"/>
                          </a:solidFill>
                          <a:latin typeface="Century Gothic"/>
                        </a:rPr>
                        <a:t>is 8,200 sqm, plus 1,500 sqm concrete open yard for truck staging. Total is 9,700 sqm.</a:t>
                      </a:r>
                      <a:endParaRPr lang="en-US" sz="1800" dirty="0"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429958"/>
                  </a:ext>
                </a:extLst>
              </a:tr>
              <a:tr h="856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Open Yard</a:t>
                      </a:r>
                      <a:endParaRPr lang="en-US" sz="1800" b="0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latin typeface="Century Gothic"/>
                        </a:rPr>
                        <a:t>1,000 sqm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16256"/>
                  </a:ext>
                </a:extLst>
              </a:tr>
              <a:tr h="96182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TOTAL LEASABLE AREA</a:t>
                      </a:r>
                      <a:endParaRPr lang="en-US" sz="1800" b="0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latin typeface="Century Gothic"/>
                        </a:rPr>
                        <a:t>is 8,200 sqm, plus 1,500 sqm concrete open yard for truck staging. Total is 9,700 sqm.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8784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5679A0D-60DB-6EC0-E2F2-D26125E7C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313303"/>
              </p:ext>
            </p:extLst>
          </p:nvPr>
        </p:nvGraphicFramePr>
        <p:xfrm>
          <a:off x="289497" y="5772130"/>
          <a:ext cx="7853903" cy="3917328"/>
        </p:xfrm>
        <a:graphic>
          <a:graphicData uri="http://schemas.openxmlformats.org/drawingml/2006/table">
            <a:tbl>
              <a:tblPr/>
              <a:tblGrid>
                <a:gridCol w="3329246">
                  <a:extLst>
                    <a:ext uri="{9D8B030D-6E8A-4147-A177-3AD203B41FA5}">
                      <a16:colId xmlns:a16="http://schemas.microsoft.com/office/drawing/2014/main" val="2100264254"/>
                    </a:ext>
                  </a:extLst>
                </a:gridCol>
                <a:gridCol w="4524657">
                  <a:extLst>
                    <a:ext uri="{9D8B030D-6E8A-4147-A177-3AD203B41FA5}">
                      <a16:colId xmlns:a16="http://schemas.microsoft.com/office/drawing/2014/main" val="1935730497"/>
                    </a:ext>
                  </a:extLst>
                </a:gridCol>
              </a:tblGrid>
              <a:tr h="512486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LEASE TERMS AND CONDITION</a:t>
                      </a:r>
                      <a:r>
                        <a:rPr lang="en-PH" sz="2100" b="0" i="0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​​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126086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Rate (Covered)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375/sqm for covered, 100/sqm for open yard. Plus VAT.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35403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Escalation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2060"/>
                          </a:solidFill>
                          <a:latin typeface="Century Gothic"/>
                        </a:rPr>
                        <a:t>5% Yearly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78072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Min. Lease Term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Years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39804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Advance Rent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3481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Security Deposit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3252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</a:rPr>
                        <a:t>Advance Rent </a:t>
                      </a:r>
                      <a:r>
                        <a:rPr lang="en-PH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Three (3) months</a:t>
                      </a:r>
                      <a:r>
                        <a:rPr lang="en-PH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 </a:t>
                      </a:r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+ PDCs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180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</a:rPr>
                        <a:t>Security Deposit</a:t>
                      </a:r>
                      <a:r>
                        <a:rPr lang="en-PH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Three (3)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57182"/>
                  </a:ext>
                </a:extLst>
              </a:tr>
            </a:tbl>
          </a:graphicData>
        </a:graphic>
      </p:graphicFrame>
      <p:sp>
        <p:nvSpPr>
          <p:cNvPr id="17" name="AutoShape 4" descr=", AI generated">
            <a:extLst>
              <a:ext uri="{FF2B5EF4-FFF2-40B4-BE49-F238E27FC236}">
                <a16:creationId xmlns:a16="http://schemas.microsoft.com/office/drawing/2014/main" id="{8F0B097F-817A-C130-DC55-4F3AD909DF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35B37818-5526-7574-6F06-3EF3C9DEFB5E}"/>
              </a:ext>
            </a:extLst>
          </p:cNvPr>
          <p:cNvSpPr/>
          <p:nvPr/>
        </p:nvSpPr>
        <p:spPr>
          <a:xfrm>
            <a:off x="8624413" y="8480857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CE7E96-AF49-540C-D2E3-D9FDA5CD6B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119" y="2242791"/>
            <a:ext cx="9443672" cy="70827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14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16A8-DB78-D3C3-1061-CE2B352D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81F1E9-2F31-2336-025D-92845AECDF65}"/>
              </a:ext>
            </a:extLst>
          </p:cNvPr>
          <p:cNvGrpSpPr/>
          <p:nvPr/>
        </p:nvGrpSpPr>
        <p:grpSpPr>
          <a:xfrm>
            <a:off x="-152400" y="0"/>
            <a:ext cx="18287996" cy="9993427"/>
            <a:chOff x="0" y="0"/>
            <a:chExt cx="28600181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DA01D6-CA97-C21E-ECCC-3052B295E21A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8136058-B36A-6F83-679D-14159F515022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D47BAB4-7265-90DC-6934-435D67BBA3BC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FB7B9C-3EE2-93F5-8BA3-1E0F70A01321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6AA59E1-67DA-11A5-BC28-58CFA77693EA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18467C-C77A-BA2A-35C0-E26D4D5294D5}"/>
                </a:ext>
              </a:extLst>
            </p:cNvPr>
            <p:cNvSpPr/>
            <p:nvPr/>
          </p:nvSpPr>
          <p:spPr>
            <a:xfrm>
              <a:off x="7150046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789D5FC-FF70-B51A-F242-E83171E35C6D}"/>
                </a:ext>
              </a:extLst>
            </p:cNvPr>
            <p:cNvSpPr/>
            <p:nvPr/>
          </p:nvSpPr>
          <p:spPr>
            <a:xfrm>
              <a:off x="14300091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FA2B09-3ED0-9434-3FCE-A43A527004BC}"/>
                </a:ext>
              </a:extLst>
            </p:cNvPr>
            <p:cNvSpPr/>
            <p:nvPr/>
          </p:nvSpPr>
          <p:spPr>
            <a:xfrm>
              <a:off x="21450135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F5A0685-9A7A-6DD0-B45D-E7742901CCBD}"/>
              </a:ext>
            </a:extLst>
          </p:cNvPr>
          <p:cNvSpPr txBox="1"/>
          <p:nvPr/>
        </p:nvSpPr>
        <p:spPr>
          <a:xfrm>
            <a:off x="564150" y="805180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6199">
                <a:solidFill>
                  <a:srgbClr val="021A3D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Property Details </a:t>
            </a:r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1C509624-4BD1-29AE-AEFC-DDABE75B4A51}"/>
              </a:ext>
            </a:extLst>
          </p:cNvPr>
          <p:cNvSpPr/>
          <p:nvPr/>
        </p:nvSpPr>
        <p:spPr>
          <a:xfrm>
            <a:off x="0" y="9993427"/>
            <a:ext cx="18287996" cy="454842"/>
          </a:xfrm>
          <a:custGeom>
            <a:avLst/>
            <a:gdLst/>
            <a:ahLst/>
            <a:cxnLst/>
            <a:rect l="l" t="t" r="r" b="b"/>
            <a:pathLst>
              <a:path w="4816592" h="119794">
                <a:moveTo>
                  <a:pt x="0" y="0"/>
                </a:moveTo>
                <a:lnTo>
                  <a:pt x="4816592" y="0"/>
                </a:lnTo>
                <a:lnTo>
                  <a:pt x="4816592" y="119794"/>
                </a:lnTo>
                <a:lnTo>
                  <a:pt x="0" y="119794"/>
                </a:lnTo>
                <a:close/>
              </a:path>
            </a:pathLst>
          </a:custGeom>
          <a:gradFill rotWithShape="1">
            <a:gsLst>
              <a:gs pos="0">
                <a:srgbClr val="0C0C0E">
                  <a:alpha val="100000"/>
                </a:srgbClr>
              </a:gs>
              <a:gs pos="50000">
                <a:srgbClr val="003366">
                  <a:alpha val="100000"/>
                </a:srgbClr>
              </a:gs>
              <a:gs pos="100000">
                <a:srgbClr val="C9A84C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en-PH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025E4838-602D-F096-5D48-77210600D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458812"/>
            <a:ext cx="208597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reeform 14">
            <a:extLst>
              <a:ext uri="{FF2B5EF4-FFF2-40B4-BE49-F238E27FC236}">
                <a16:creationId xmlns:a16="http://schemas.microsoft.com/office/drawing/2014/main" id="{8B8B3AC5-74CC-1821-6AD7-17EE9BD843A7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305DC78-04BD-72E1-84E2-4908DC314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92067"/>
              </p:ext>
            </p:extLst>
          </p:nvPr>
        </p:nvGraphicFramePr>
        <p:xfrm>
          <a:off x="503805" y="6711080"/>
          <a:ext cx="7077025" cy="21387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6918">
                  <a:extLst>
                    <a:ext uri="{9D8B030D-6E8A-4147-A177-3AD203B41FA5}">
                      <a16:colId xmlns:a16="http://schemas.microsoft.com/office/drawing/2014/main" val="1407389506"/>
                    </a:ext>
                  </a:extLst>
                </a:gridCol>
                <a:gridCol w="4150107">
                  <a:extLst>
                    <a:ext uri="{9D8B030D-6E8A-4147-A177-3AD203B41FA5}">
                      <a16:colId xmlns:a16="http://schemas.microsoft.com/office/drawing/2014/main" val="467239703"/>
                    </a:ext>
                  </a:extLst>
                </a:gridCol>
              </a:tblGrid>
              <a:tr h="510158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15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ACCESSIBILITY</a:t>
                      </a:r>
                      <a:endParaRPr lang="en-US" sz="2100" b="0" i="0" dirty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510922"/>
                  </a:ext>
                </a:extLst>
              </a:tr>
              <a:tr h="392430">
                <a:tc gridSpan="2">
                  <a:txBody>
                    <a:bodyPr/>
                    <a:lstStyle/>
                    <a:p>
                      <a:pPr marL="7620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Distance from: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711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46650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National Highway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1.0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89027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Expressway Exit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3.5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511834"/>
                  </a:ext>
                </a:extLst>
              </a:tr>
              <a:tr h="372809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Manila Port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45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13628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BDC076A-016B-4144-3270-248E5BC85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386154"/>
              </p:ext>
            </p:extLst>
          </p:nvPr>
        </p:nvGraphicFramePr>
        <p:xfrm>
          <a:off x="509239" y="1706520"/>
          <a:ext cx="7077025" cy="47474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89530">
                  <a:extLst>
                    <a:ext uri="{9D8B030D-6E8A-4147-A177-3AD203B41FA5}">
                      <a16:colId xmlns:a16="http://schemas.microsoft.com/office/drawing/2014/main" val="1989019544"/>
                    </a:ext>
                  </a:extLst>
                </a:gridCol>
                <a:gridCol w="4287495">
                  <a:extLst>
                    <a:ext uri="{9D8B030D-6E8A-4147-A177-3AD203B41FA5}">
                      <a16:colId xmlns:a16="http://schemas.microsoft.com/office/drawing/2014/main" val="3021649425"/>
                    </a:ext>
                  </a:extLst>
                </a:gridCol>
              </a:tblGrid>
              <a:tr h="664772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75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SPECIFICATIONS</a:t>
                      </a:r>
                      <a:endParaRPr lang="en-US" sz="2100" b="0" i="0" dirty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000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440112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Loading Area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253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Elevated loading bays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91646"/>
                  </a:ext>
                </a:extLst>
              </a:tr>
              <a:tr h="517045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APEX Height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12-14 meters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239624"/>
                  </a:ext>
                </a:extLst>
              </a:tr>
              <a:tr h="553976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Vehicle Capacity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Up to 40 ft. trucks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412738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Electrical Load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Three Phase Ready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444271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Ideal Use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Storage / Logistics / Distribution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33430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Gated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Yes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88835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Electrical Load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Single Phase Ready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547600"/>
                  </a:ext>
                </a:extLst>
              </a:tr>
              <a:tr h="611067"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spc="-75" dirty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Ideal Use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Storage / Distribution</a:t>
                      </a:r>
                      <a:r>
                        <a:rPr lang="en-US" sz="1800" b="0" i="0" spc="0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 </a:t>
                      </a: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Centers / Manufacturing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009018"/>
                  </a:ext>
                </a:extLst>
              </a:tr>
            </a:tbl>
          </a:graphicData>
        </a:graphic>
      </p:graphicFrame>
      <p:sp>
        <p:nvSpPr>
          <p:cNvPr id="23" name="Freeform 14">
            <a:extLst>
              <a:ext uri="{FF2B5EF4-FFF2-40B4-BE49-F238E27FC236}">
                <a16:creationId xmlns:a16="http://schemas.microsoft.com/office/drawing/2014/main" id="{D4BD1B25-6C7B-0DCF-174A-23D44AEA536B}"/>
              </a:ext>
            </a:extLst>
          </p:cNvPr>
          <p:cNvSpPr/>
          <p:nvPr/>
        </p:nvSpPr>
        <p:spPr>
          <a:xfrm>
            <a:off x="8257482" y="7939975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2BFC59-AB68-46F6-B92D-9AD97D76A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8048" y="1989249"/>
            <a:ext cx="9860713" cy="739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33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AEDF-22BF-4D70-9116-5310D355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E296E3-AE5F-B3F5-49E5-41AF61BAEFBB}"/>
              </a:ext>
            </a:extLst>
          </p:cNvPr>
          <p:cNvGrpSpPr/>
          <p:nvPr/>
        </p:nvGrpSpPr>
        <p:grpSpPr>
          <a:xfrm>
            <a:off x="-234695" y="14287"/>
            <a:ext cx="18522691" cy="9979140"/>
            <a:chOff x="0" y="0"/>
            <a:chExt cx="28600182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CF6D3D-1334-1CF4-7D3A-A2646BEBB60D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8A3BBA-E610-F26A-8FCC-08DC0BD63264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84B01C1-AA66-C9AE-01B7-F5E91EFEC8EE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605472-17DD-B29E-1F13-FCD46804B4E3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AF0C7E0-3043-A8CE-3FA6-EFB195EE7F97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D544C7-0DC7-8137-5C0F-05AF42C7B88E}"/>
                </a:ext>
              </a:extLst>
            </p:cNvPr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A5FD68D-1D3D-533F-CF6A-545EC14E740F}"/>
                </a:ext>
              </a:extLst>
            </p:cNvPr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AADF30C-02B1-0E97-FB30-19D38943AE54}"/>
                </a:ext>
              </a:extLst>
            </p:cNvPr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7458918-FCC2-D6AA-50CC-BD00E875EDE2}"/>
              </a:ext>
            </a:extLst>
          </p:cNvPr>
          <p:cNvGrpSpPr/>
          <p:nvPr/>
        </p:nvGrpSpPr>
        <p:grpSpPr>
          <a:xfrm>
            <a:off x="0" y="9993427"/>
            <a:ext cx="18288000" cy="454842"/>
            <a:chOff x="0" y="0"/>
            <a:chExt cx="4816593" cy="11979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54E2197-1EB4-F568-37A5-059F80FE7B13}"/>
                </a:ext>
              </a:extLst>
            </p:cNvPr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62C69BA-E765-88C4-6348-D0D95B1F7AA4}"/>
                </a:ext>
              </a:extLst>
            </p:cNvPr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C32DD1EA-14F1-4C37-3EDC-D73FEB18B1A9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149FD88-9EB0-46F9-AFAA-60086601D2A1}"/>
              </a:ext>
            </a:extLst>
          </p:cNvPr>
          <p:cNvSpPr txBox="1"/>
          <p:nvPr/>
        </p:nvSpPr>
        <p:spPr>
          <a:xfrm>
            <a:off x="509239" y="530529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2: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012B5A4-AAB9-87E5-A287-23923D5C33D2}"/>
              </a:ext>
            </a:extLst>
          </p:cNvPr>
          <p:cNvSpPr txBox="1"/>
          <p:nvPr/>
        </p:nvSpPr>
        <p:spPr>
          <a:xfrm>
            <a:off x="550891" y="953545"/>
            <a:ext cx="6833680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Dasmarinas, Cavite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5679A0D-60DB-6EC0-E2F2-D26125E7C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709724"/>
              </p:ext>
            </p:extLst>
          </p:nvPr>
        </p:nvGraphicFramePr>
        <p:xfrm>
          <a:off x="289497" y="5867666"/>
          <a:ext cx="7853903" cy="3917328"/>
        </p:xfrm>
        <a:graphic>
          <a:graphicData uri="http://schemas.openxmlformats.org/drawingml/2006/table">
            <a:tbl>
              <a:tblPr/>
              <a:tblGrid>
                <a:gridCol w="3329246">
                  <a:extLst>
                    <a:ext uri="{9D8B030D-6E8A-4147-A177-3AD203B41FA5}">
                      <a16:colId xmlns:a16="http://schemas.microsoft.com/office/drawing/2014/main" val="2100264254"/>
                    </a:ext>
                  </a:extLst>
                </a:gridCol>
                <a:gridCol w="4524657">
                  <a:extLst>
                    <a:ext uri="{9D8B030D-6E8A-4147-A177-3AD203B41FA5}">
                      <a16:colId xmlns:a16="http://schemas.microsoft.com/office/drawing/2014/main" val="1935730497"/>
                    </a:ext>
                  </a:extLst>
                </a:gridCol>
              </a:tblGrid>
              <a:tr h="512486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LEASE TERMS AND CONDITION</a:t>
                      </a:r>
                      <a:r>
                        <a:rPr lang="en-PH" sz="2100" b="0" i="0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​​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126086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Rate (Covered)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is 350/sqm + VAT. Escalation 5% yearly. 3 years lease, 3 mos adv, 3 mos dep.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35403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Escalation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2060"/>
                          </a:solidFill>
                          <a:latin typeface="Century Gothic"/>
                        </a:rPr>
                        <a:t>5% Yearly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78072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Min. Lease Term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Years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39804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Advance Rent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3481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Security Deposit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3252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</a:rPr>
                        <a:t>Advance Rent </a:t>
                      </a:r>
                      <a:r>
                        <a:rPr lang="en-PH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Three (3) months</a:t>
                      </a:r>
                      <a:r>
                        <a:rPr lang="en-PH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 </a:t>
                      </a:r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+ PDCs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180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</a:rPr>
                        <a:t>Security Deposit</a:t>
                      </a:r>
                      <a:r>
                        <a:rPr lang="en-PH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Three (3)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57182"/>
                  </a:ext>
                </a:extLst>
              </a:tr>
            </a:tbl>
          </a:graphicData>
        </a:graphic>
      </p:graphicFrame>
      <p:sp>
        <p:nvSpPr>
          <p:cNvPr id="17" name="AutoShape 4" descr=", AI generated">
            <a:extLst>
              <a:ext uri="{FF2B5EF4-FFF2-40B4-BE49-F238E27FC236}">
                <a16:creationId xmlns:a16="http://schemas.microsoft.com/office/drawing/2014/main" id="{8F0B097F-817A-C130-DC55-4F3AD909DF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35B37818-5526-7574-6F06-3EF3C9DEFB5E}"/>
              </a:ext>
            </a:extLst>
          </p:cNvPr>
          <p:cNvSpPr/>
          <p:nvPr/>
        </p:nvSpPr>
        <p:spPr>
          <a:xfrm>
            <a:off x="8624413" y="8480857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26135B1-2D88-D3B5-2521-A58309FBB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45133"/>
              </p:ext>
            </p:extLst>
          </p:nvPr>
        </p:nvGraphicFramePr>
        <p:xfrm>
          <a:off x="347835" y="1915720"/>
          <a:ext cx="7776000" cy="3779676"/>
        </p:xfrm>
        <a:graphic>
          <a:graphicData uri="http://schemas.openxmlformats.org/drawingml/2006/table">
            <a:tbl>
              <a:tblPr/>
              <a:tblGrid>
                <a:gridCol w="1944000">
                  <a:extLst>
                    <a:ext uri="{9D8B030D-6E8A-4147-A177-3AD203B41FA5}">
                      <a16:colId xmlns:a16="http://schemas.microsoft.com/office/drawing/2014/main" val="39258960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77431435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58873439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408954213"/>
                    </a:ext>
                  </a:extLst>
                </a:gridCol>
              </a:tblGrid>
              <a:tr h="557484">
                <a:tc gridSpan="4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AVAILABLE UNITS FOR LEASE</a:t>
                      </a:r>
                      <a:r>
                        <a:rPr lang="en-PH" sz="28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​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809671"/>
                  </a:ext>
                </a:extLst>
              </a:tr>
              <a:tr h="537032">
                <a:tc>
                  <a:txBody>
                    <a:bodyPr/>
                    <a:lstStyle/>
                    <a:p>
                      <a:pPr algn="ctr" fontAlgn="base"/>
                      <a:r>
                        <a:rPr lang="en-PH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Unit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PH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Size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H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Unit</a:t>
                      </a:r>
                      <a:r>
                        <a:rPr lang="en-PH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PH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Size</a:t>
                      </a:r>
                      <a:endParaRPr lang="en-US" sz="1800" b="1" i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426538"/>
                  </a:ext>
                </a:extLst>
              </a:tr>
              <a:tr h="537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>
                          <a:solidFill>
                            <a:srgbClr val="003366"/>
                          </a:solidFill>
                          <a:latin typeface="Century Gothic"/>
                        </a:rPr>
                        <a:t>Covered Area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189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>
                          <a:solidFill>
                            <a:srgbClr val="003366"/>
                          </a:solidFill>
                          <a:latin typeface="Century Gothic"/>
                        </a:rPr>
                        <a:t>6,400 sqm. Open area is 800 sqm. Total leasable: 7,200 sqm.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Verdana"/>
                        </a:rPr>
                        <a:t>Warehouse 6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2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Tahoma"/>
                        </a:rPr>
                        <a:t>1,089.41 sqm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484345"/>
                  </a:ext>
                </a:extLst>
              </a:tr>
              <a:tr h="537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>
                          <a:solidFill>
                            <a:srgbClr val="003366"/>
                          </a:solidFill>
                          <a:latin typeface="Century Gothic"/>
                        </a:rPr>
                        <a:t>Open Yard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189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>
                          <a:solidFill>
                            <a:srgbClr val="003366"/>
                          </a:solidFill>
                          <a:latin typeface="Century Gothic"/>
                        </a:rPr>
                        <a:t>1,000 sqm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Verdana"/>
                        </a:rPr>
                        <a:t>Warehouse 7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252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Tahoma"/>
                        </a:rPr>
                        <a:t>1,175.35 sqm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494718"/>
                  </a:ext>
                </a:extLst>
              </a:tr>
              <a:tr h="537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>
                          <a:solidFill>
                            <a:srgbClr val="003366"/>
                          </a:solidFill>
                          <a:latin typeface="Century Gothic"/>
                        </a:rPr>
                        <a:t>TOTAL LEASABLE AREA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189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>
                          <a:solidFill>
                            <a:srgbClr val="003366"/>
                          </a:solidFill>
                          <a:latin typeface="Century Gothic"/>
                        </a:rPr>
                        <a:t>6,400 sqm. Open area is 800 sqm. Total leasable: 7,200 sqm.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Verdana"/>
                        </a:rPr>
                        <a:t>Warehouse 8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189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Tahoma"/>
                        </a:rPr>
                        <a:t>1,547.87 sqm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71820"/>
                  </a:ext>
                </a:extLst>
              </a:tr>
              <a:tr h="537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Verdana"/>
                        </a:rPr>
                        <a:t>Warehouse 4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252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Tahoma"/>
                        </a:rPr>
                        <a:t>1,881.09 sqm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Verdana"/>
                        </a:rPr>
                        <a:t>Warehouse 9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2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Tahoma"/>
                        </a:rPr>
                        <a:t>2,222.83 sqm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775609"/>
                  </a:ext>
                </a:extLst>
              </a:tr>
              <a:tr h="537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Verdana"/>
                        </a:rPr>
                        <a:t>Warehouse 5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189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Tahoma"/>
                        </a:rPr>
                        <a:t>1,846.33 sqm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Verdana"/>
                        </a:rPr>
                        <a:t>Warehouse 10</a:t>
                      </a:r>
                      <a:endParaRPr sz="1800" spc="0" dirty="0">
                        <a:latin typeface="Century Gothic" panose="020B0502020202020204" pitchFamily="34" charset="0"/>
                        <a:cs typeface="Verdana"/>
                      </a:endParaRPr>
                    </a:p>
                  </a:txBody>
                  <a:tcPr marL="0" marR="0" marT="42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0" dirty="0">
                          <a:solidFill>
                            <a:srgbClr val="003366"/>
                          </a:solidFill>
                          <a:latin typeface="Century Gothic" panose="020B0502020202020204" pitchFamily="34" charset="0"/>
                          <a:cs typeface="Tahoma"/>
                        </a:rPr>
                        <a:t>1,489.74 sqm</a:t>
                      </a:r>
                      <a:endParaRPr sz="1800" spc="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43797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31410"/>
                  </a:ext>
                </a:extLst>
              </a:tr>
            </a:tbl>
          </a:graphicData>
        </a:graphic>
      </p:graphicFrame>
      <p:grpSp>
        <p:nvGrpSpPr>
          <p:cNvPr id="22" name="object 6">
            <a:extLst>
              <a:ext uri="{FF2B5EF4-FFF2-40B4-BE49-F238E27FC236}">
                <a16:creationId xmlns:a16="http://schemas.microsoft.com/office/drawing/2014/main" id="{64C1D5BE-C733-EA3C-6CAF-B6C3421EDC5C}"/>
              </a:ext>
            </a:extLst>
          </p:cNvPr>
          <p:cNvGrpSpPr/>
          <p:nvPr/>
        </p:nvGrpSpPr>
        <p:grpSpPr>
          <a:xfrm>
            <a:off x="8377449" y="1944515"/>
            <a:ext cx="9621054" cy="7557905"/>
            <a:chOff x="4777994" y="1951482"/>
            <a:chExt cx="5722620" cy="4291965"/>
          </a:xfrm>
        </p:grpSpPr>
        <p:pic>
          <p:nvPicPr>
            <p:cNvPr id="23" name="object 7">
              <a:extLst>
                <a:ext uri="{FF2B5EF4-FFF2-40B4-BE49-F238E27FC236}">
                  <a16:creationId xmlns:a16="http://schemas.microsoft.com/office/drawing/2014/main" id="{89286D59-E800-72F1-0779-D2C2C2A2D2A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04117" y="4226210"/>
              <a:ext cx="953890" cy="2151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25" name="object 8">
              <a:extLst>
                <a:ext uri="{FF2B5EF4-FFF2-40B4-BE49-F238E27FC236}">
                  <a16:creationId xmlns:a16="http://schemas.microsoft.com/office/drawing/2014/main" id="{7CA61588-6AA9-DF26-5991-01688281F35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77994" y="1951482"/>
              <a:ext cx="5722365" cy="429183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724925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16A8-DB78-D3C3-1061-CE2B352D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81F1E9-2F31-2336-025D-92845AECDF65}"/>
              </a:ext>
            </a:extLst>
          </p:cNvPr>
          <p:cNvGrpSpPr/>
          <p:nvPr/>
        </p:nvGrpSpPr>
        <p:grpSpPr>
          <a:xfrm>
            <a:off x="-152400" y="0"/>
            <a:ext cx="18287996" cy="9993427"/>
            <a:chOff x="0" y="0"/>
            <a:chExt cx="28600181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DA01D6-CA97-C21E-ECCC-3052B295E21A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8136058-B36A-6F83-679D-14159F515022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D47BAB4-7265-90DC-6934-435D67BBA3BC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FB7B9C-3EE2-93F5-8BA3-1E0F70A01321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6AA59E1-67DA-11A5-BC28-58CFA77693EA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18467C-C77A-BA2A-35C0-E26D4D5294D5}"/>
                </a:ext>
              </a:extLst>
            </p:cNvPr>
            <p:cNvSpPr/>
            <p:nvPr/>
          </p:nvSpPr>
          <p:spPr>
            <a:xfrm>
              <a:off x="7150046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789D5FC-FF70-B51A-F242-E83171E35C6D}"/>
                </a:ext>
              </a:extLst>
            </p:cNvPr>
            <p:cNvSpPr/>
            <p:nvPr/>
          </p:nvSpPr>
          <p:spPr>
            <a:xfrm>
              <a:off x="14300091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FA2B09-3ED0-9434-3FCE-A43A527004BC}"/>
                </a:ext>
              </a:extLst>
            </p:cNvPr>
            <p:cNvSpPr/>
            <p:nvPr/>
          </p:nvSpPr>
          <p:spPr>
            <a:xfrm>
              <a:off x="21450135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F5A0685-9A7A-6DD0-B45D-E7742901CCBD}"/>
              </a:ext>
            </a:extLst>
          </p:cNvPr>
          <p:cNvSpPr txBox="1"/>
          <p:nvPr/>
        </p:nvSpPr>
        <p:spPr>
          <a:xfrm>
            <a:off x="564150" y="805180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6199">
                <a:solidFill>
                  <a:srgbClr val="021A3D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Property Details </a:t>
            </a:r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1C509624-4BD1-29AE-AEFC-DDABE75B4A51}"/>
              </a:ext>
            </a:extLst>
          </p:cNvPr>
          <p:cNvSpPr/>
          <p:nvPr/>
        </p:nvSpPr>
        <p:spPr>
          <a:xfrm>
            <a:off x="0" y="9993427"/>
            <a:ext cx="18287996" cy="454842"/>
          </a:xfrm>
          <a:custGeom>
            <a:avLst/>
            <a:gdLst/>
            <a:ahLst/>
            <a:cxnLst/>
            <a:rect l="l" t="t" r="r" b="b"/>
            <a:pathLst>
              <a:path w="4816592" h="119794">
                <a:moveTo>
                  <a:pt x="0" y="0"/>
                </a:moveTo>
                <a:lnTo>
                  <a:pt x="4816592" y="0"/>
                </a:lnTo>
                <a:lnTo>
                  <a:pt x="4816592" y="119794"/>
                </a:lnTo>
                <a:lnTo>
                  <a:pt x="0" y="119794"/>
                </a:lnTo>
                <a:close/>
              </a:path>
            </a:pathLst>
          </a:custGeom>
          <a:gradFill rotWithShape="1">
            <a:gsLst>
              <a:gs pos="0">
                <a:srgbClr val="0C0C0E">
                  <a:alpha val="100000"/>
                </a:srgbClr>
              </a:gs>
              <a:gs pos="50000">
                <a:srgbClr val="003366">
                  <a:alpha val="100000"/>
                </a:srgbClr>
              </a:gs>
              <a:gs pos="100000">
                <a:srgbClr val="C9A84C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en-PH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025E4838-602D-F096-5D48-77210600D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458812"/>
            <a:ext cx="208597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reeform 14">
            <a:extLst>
              <a:ext uri="{FF2B5EF4-FFF2-40B4-BE49-F238E27FC236}">
                <a16:creationId xmlns:a16="http://schemas.microsoft.com/office/drawing/2014/main" id="{8B8B3AC5-74CC-1821-6AD7-17EE9BD843A7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305DC78-04BD-72E1-84E2-4908DC314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248635"/>
              </p:ext>
            </p:extLst>
          </p:nvPr>
        </p:nvGraphicFramePr>
        <p:xfrm>
          <a:off x="503805" y="6711080"/>
          <a:ext cx="7077025" cy="21387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6918">
                  <a:extLst>
                    <a:ext uri="{9D8B030D-6E8A-4147-A177-3AD203B41FA5}">
                      <a16:colId xmlns:a16="http://schemas.microsoft.com/office/drawing/2014/main" val="1407389506"/>
                    </a:ext>
                  </a:extLst>
                </a:gridCol>
                <a:gridCol w="4150107">
                  <a:extLst>
                    <a:ext uri="{9D8B030D-6E8A-4147-A177-3AD203B41FA5}">
                      <a16:colId xmlns:a16="http://schemas.microsoft.com/office/drawing/2014/main" val="467239703"/>
                    </a:ext>
                  </a:extLst>
                </a:gridCol>
              </a:tblGrid>
              <a:tr h="510158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15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ACCESSIBILITY</a:t>
                      </a:r>
                      <a:endParaRPr lang="en-US" sz="2100" b="0" i="0" dirty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510922"/>
                  </a:ext>
                </a:extLst>
              </a:tr>
              <a:tr h="392430">
                <a:tc gridSpan="2">
                  <a:txBody>
                    <a:bodyPr/>
                    <a:lstStyle/>
                    <a:p>
                      <a:pPr marL="7620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Distance from: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711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46650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National Highway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1.0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89027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Expressway Exit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3.5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511834"/>
                  </a:ext>
                </a:extLst>
              </a:tr>
              <a:tr h="372809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Manila Port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45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13628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BDC076A-016B-4144-3270-248E5BC85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280773"/>
              </p:ext>
            </p:extLst>
          </p:nvPr>
        </p:nvGraphicFramePr>
        <p:xfrm>
          <a:off x="509239" y="1706520"/>
          <a:ext cx="7077025" cy="47474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89530">
                  <a:extLst>
                    <a:ext uri="{9D8B030D-6E8A-4147-A177-3AD203B41FA5}">
                      <a16:colId xmlns:a16="http://schemas.microsoft.com/office/drawing/2014/main" val="1989019544"/>
                    </a:ext>
                  </a:extLst>
                </a:gridCol>
                <a:gridCol w="4287495">
                  <a:extLst>
                    <a:ext uri="{9D8B030D-6E8A-4147-A177-3AD203B41FA5}">
                      <a16:colId xmlns:a16="http://schemas.microsoft.com/office/drawing/2014/main" val="3021649425"/>
                    </a:ext>
                  </a:extLst>
                </a:gridCol>
              </a:tblGrid>
              <a:tr h="664772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75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SPECIFICATIONS</a:t>
                      </a:r>
                      <a:endParaRPr lang="en-US" sz="2100" b="0" i="0" dirty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000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440112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Loading Area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253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Elevated loading bays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91646"/>
                  </a:ext>
                </a:extLst>
              </a:tr>
              <a:tr h="517045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APEX Height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12-14 meters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239624"/>
                  </a:ext>
                </a:extLst>
              </a:tr>
              <a:tr h="553976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Vehicle Capacity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Up to 40 ft. trucks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412738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Electrical Load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Three Phase Ready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444271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Ideal Use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Storage / Logistics / Distribution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33430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Gated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Yes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88835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Electrical Load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Single Phase Ready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547600"/>
                  </a:ext>
                </a:extLst>
              </a:tr>
              <a:tr h="611067"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spc="-75" dirty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Ideal Use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Storage / Distribution</a:t>
                      </a:r>
                      <a:r>
                        <a:rPr lang="en-US" sz="1800" b="0" i="0" spc="0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 </a:t>
                      </a: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Centers / Manufacturing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009018"/>
                  </a:ext>
                </a:extLst>
              </a:tr>
            </a:tbl>
          </a:graphicData>
        </a:graphic>
      </p:graphicFrame>
      <p:sp>
        <p:nvSpPr>
          <p:cNvPr id="23" name="Freeform 14">
            <a:extLst>
              <a:ext uri="{FF2B5EF4-FFF2-40B4-BE49-F238E27FC236}">
                <a16:creationId xmlns:a16="http://schemas.microsoft.com/office/drawing/2014/main" id="{D4BD1B25-6C7B-0DCF-174A-23D44AEA536B}"/>
              </a:ext>
            </a:extLst>
          </p:cNvPr>
          <p:cNvSpPr/>
          <p:nvPr/>
        </p:nvSpPr>
        <p:spPr>
          <a:xfrm>
            <a:off x="8257482" y="7939975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11" name="object 7">
            <a:extLst>
              <a:ext uri="{FF2B5EF4-FFF2-40B4-BE49-F238E27FC236}">
                <a16:creationId xmlns:a16="http://schemas.microsoft.com/office/drawing/2014/main" id="{793D310A-D7AE-F919-DA62-BE2CB31AB062}"/>
              </a:ext>
            </a:extLst>
          </p:cNvPr>
          <p:cNvGrpSpPr/>
          <p:nvPr/>
        </p:nvGrpSpPr>
        <p:grpSpPr>
          <a:xfrm>
            <a:off x="7768036" y="1989249"/>
            <a:ext cx="9625603" cy="6860574"/>
            <a:chOff x="4743958" y="1024636"/>
            <a:chExt cx="5767705" cy="4827905"/>
          </a:xfrm>
        </p:grpSpPr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8DF5F599-427F-C103-91CD-1825143675F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55657" y="4087714"/>
              <a:ext cx="857796" cy="207587"/>
            </a:xfrm>
            <a:prstGeom prst="rect">
              <a:avLst/>
            </a:prstGeom>
          </p:spPr>
        </p:pic>
        <p:pic>
          <p:nvPicPr>
            <p:cNvPr id="16" name="object 9">
              <a:extLst>
                <a:ext uri="{FF2B5EF4-FFF2-40B4-BE49-F238E27FC236}">
                  <a16:creationId xmlns:a16="http://schemas.microsoft.com/office/drawing/2014/main" id="{84ABDFAD-EC67-2512-CE72-A1205AEE96C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43958" y="1024636"/>
              <a:ext cx="5767578" cy="48275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0082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350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229184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591718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954252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0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229184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591718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954252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848261" y="0"/>
            <a:ext cx="13439739" cy="10287000"/>
          </a:xfrm>
          <a:custGeom>
            <a:avLst/>
            <a:gdLst/>
            <a:ahLst/>
            <a:cxnLst/>
            <a:rect l="l" t="t" r="r" b="b"/>
            <a:pathLst>
              <a:path w="13439739" h="10287000">
                <a:moveTo>
                  <a:pt x="0" y="0"/>
                </a:moveTo>
                <a:lnTo>
                  <a:pt x="13439739" y="0"/>
                </a:lnTo>
                <a:lnTo>
                  <a:pt x="1343973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"/>
            </a:blip>
            <a:stretch>
              <a:fillRect t="-2" b="-2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376931" y="8736381"/>
            <a:ext cx="1170006" cy="895542"/>
          </a:xfrm>
          <a:custGeom>
            <a:avLst/>
            <a:gdLst/>
            <a:ahLst/>
            <a:cxnLst/>
            <a:rect l="l" t="t" r="r" b="b"/>
            <a:pathLst>
              <a:path w="1170006" h="895542">
                <a:moveTo>
                  <a:pt x="0" y="0"/>
                </a:moveTo>
                <a:lnTo>
                  <a:pt x="1170007" y="0"/>
                </a:lnTo>
                <a:lnTo>
                  <a:pt x="1170007" y="895542"/>
                </a:lnTo>
                <a:lnTo>
                  <a:pt x="0" y="895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704557"/>
            <a:ext cx="480179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morant Garamond"/>
                <a:ea typeface="Cormorant Garamond"/>
                <a:cs typeface="Cormorant Garamond"/>
                <a:sym typeface="Cormorant Garamond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942807"/>
            <a:ext cx="9506837" cy="165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EEBA2B"/>
                </a:solidFill>
                <a:effectLst/>
                <a:uLnTx/>
                <a:uFillTx/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For more information and to schedule a viewing, feel free to contact us at: </a:t>
            </a:r>
          </a:p>
          <a:p>
            <a:pPr marL="0" marR="0" lvl="0" indent="0" algn="l" defTabSz="914400" rtl="0" eaLnBrk="1" fontAlgn="auto" latinLnBrk="0" hangingPunct="1">
              <a:lnSpc>
                <a:spcPts val="4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0" b="0" i="0" u="none" strike="noStrike" kern="1200" cap="none" spc="0" normalizeH="0" baseline="0" noProof="0">
              <a:ln>
                <a:noFill/>
              </a:ln>
              <a:solidFill>
                <a:srgbClr val="EEBA2B"/>
              </a:solidFill>
              <a:effectLst/>
              <a:uLnTx/>
              <a:uFillTx/>
              <a:latin typeface="Cormorant Garamond Light"/>
              <a:ea typeface="Cormorant Garamond Light"/>
              <a:cs typeface="Cormorant Garamond Light"/>
              <a:sym typeface="Cormorant Garamond Light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88B5AEA3-EC5E-400D-86EE-FFF93471E315}"/>
              </a:ext>
            </a:extLst>
          </p:cNvPr>
          <p:cNvSpPr txBox="1"/>
          <p:nvPr/>
        </p:nvSpPr>
        <p:spPr>
          <a:xfrm>
            <a:off x="3656455" y="3783997"/>
            <a:ext cx="56738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t>Cedtrix Rena</a:t>
            </a:r>
          </a:p>
          <a:p>
            <a:r>
              <a:t>Sr. Leasing Advisor – Retail and Industrial Markets</a:t>
            </a:r>
          </a:p>
          <a:p>
            <a:r>
              <a:t>+63 917 625 3353</a:t>
            </a:r>
          </a:p>
          <a:p>
            <a:r>
              <a:t>cedtrix.rena@primephilippines.com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D0C1C34A-766A-41EF-92A6-E05C9CE06299}"/>
              </a:ext>
            </a:extLst>
          </p:cNvPr>
          <p:cNvSpPr txBox="1"/>
          <p:nvPr/>
        </p:nvSpPr>
        <p:spPr>
          <a:xfrm>
            <a:off x="3656455" y="6933996"/>
            <a:ext cx="45850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t>Sondi Tuazon</a:t>
            </a:r>
          </a:p>
          <a:p>
            <a:r>
              <a:t>Sr. Head – Retail and Industrial Markets</a:t>
            </a:r>
          </a:p>
          <a:p>
            <a:r>
              <a:t>+63 917 843 6128</a:t>
            </a:r>
          </a:p>
          <a:p>
            <a:r>
              <a:t>sondituazon.primecorp@gmail.com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F1D943-8E8D-67E6-6EF1-76ADE06BA7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40" y="3527520"/>
            <a:ext cx="2298578" cy="229857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ECC80EC-CA3A-5844-33B5-DE484322B04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93" y="6448166"/>
            <a:ext cx="2298577" cy="229857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18288000" cy="10287000"/>
            <a:chOff x="0" y="-3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53651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365191"/>
              <a:ext cx="5362575" cy="49218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9224" y="5365191"/>
              <a:ext cx="13058775" cy="49218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48224" y="-3"/>
              <a:ext cx="13439775" cy="1028689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0449" y="3141598"/>
              <a:ext cx="2943479" cy="24452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29277" y="6152972"/>
              <a:ext cx="9431020" cy="8781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1306</Words>
  <Application>Microsoft Office PowerPoint</Application>
  <PresentationFormat>Custom</PresentationFormat>
  <Paragraphs>405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DM Sans</vt:lpstr>
      <vt:lpstr>Cormorant Garamond Light Italics</vt:lpstr>
      <vt:lpstr>Cormorant Garamond Italics</vt:lpstr>
      <vt:lpstr>Century Gothic</vt:lpstr>
      <vt:lpstr>Montserrat Semi-Bold</vt:lpstr>
      <vt:lpstr>Century Gothic Paneuropean</vt:lpstr>
      <vt:lpstr>Century Gothic Paneuropean Bold</vt:lpstr>
      <vt:lpstr>Montserrat</vt:lpstr>
      <vt:lpstr>Calibri</vt:lpstr>
      <vt:lpstr>Cormorant Garamond</vt:lpstr>
      <vt:lpstr>Cormorant Garamond Light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SCOMMERCE PHILIPPINES INC.</dc:title>
  <dc:creator>MKTG Philamer D. Jr</dc:creator>
  <cp:lastModifiedBy>Cedtrix Rena</cp:lastModifiedBy>
  <cp:revision>5</cp:revision>
  <dcterms:created xsi:type="dcterms:W3CDTF">2006-08-16T00:00:00Z</dcterms:created>
  <dcterms:modified xsi:type="dcterms:W3CDTF">2026-07-28T03:21:33Z</dcterms:modified>
  <dc:identifier>DAHLfh47l2o</dc:identifier>
</cp:coreProperties>
</file>