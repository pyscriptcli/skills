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88" r:id="rId2"/>
    <p:sldId id="393" r:id="rId3"/>
    <p:sldId id="3600" r:id="rId4"/>
    <p:sldId id="3601" r:id="rId5"/>
    <p:sldId id="3602" r:id="rId6"/>
    <p:sldId id="3603" r:id="rId7"/>
    <p:sldId id="261" r:id="rId19"/>
    <p:sldId id="350" r:id="rId20"/>
  </p:sldIdLst>
  <p:sldSz cx="18288000" cy="10287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Century Gothic Paneuropean" panose="020B0604020202020204" charset="0"/>
      <p:regular r:id="rId26"/>
    </p:embeddedFont>
    <p:embeddedFont>
      <p:font typeface="Century Gothic Paneuropean Bold" panose="020B0604020202020204" charset="0"/>
      <p:regular r:id="rId27"/>
    </p:embeddedFont>
    <p:embeddedFont>
      <p:font typeface="Cormorant Garamond" panose="020B0604020202020204" charset="0"/>
      <p:regular r:id="rId28"/>
    </p:embeddedFont>
    <p:embeddedFont>
      <p:font typeface="Cormorant Garamond Italics" panose="020B0604020202020204" charset="0"/>
      <p:regular r:id="rId29"/>
    </p:embeddedFont>
    <p:embeddedFont>
      <p:font typeface="Cormorant Garamond Light" panose="020B0604020202020204" charset="0"/>
      <p:regular r:id="rId30"/>
    </p:embeddedFont>
    <p:embeddedFont>
      <p:font typeface="Cormorant Garamond Light Italics" panose="020B0604020202020204" charset="0"/>
      <p:regular r:id="rId31"/>
    </p:embeddedFon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Montserrat Bold" panose="00000800000000000000" charset="0"/>
      <p:regular r:id="rId40"/>
      <p:bold r:id="rId41"/>
    </p:embeddedFont>
    <p:embeddedFont>
      <p:font typeface="Montserrat Semi-Bold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BED0FA-43A4-403C-98E9-83028B581B02}">
          <p14:sldIdLst>
            <p14:sldId id="288"/>
            <p14:sldId id="393"/>
            <p14:sldId id="3600"/>
            <p14:sldId id="3601"/>
            <p14:sldId id="3602"/>
            <p14:sldId id="3603"/>
            <p14:sldId id="3604"/>
            <p14:sldId id="3605"/>
            <p14:sldId id="338"/>
            <p14:sldId id="339"/>
            <p14:sldId id="340"/>
            <p14:sldId id="341"/>
            <p14:sldId id="3598"/>
            <p14:sldId id="3599"/>
            <p14:sldId id="283"/>
            <p14:sldId id="284"/>
            <p14:sldId id="285"/>
            <p14:sldId id="26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61B131-1FAA-D310-D451-20C82D1045B3}" name="Jerome Simbulan" initials="JS" userId="S::jerome.simbulan@primephilippines.com::8909d2f2-f929-44d3-98a4-e0a071dc8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43F"/>
    <a:srgbClr val="10253F"/>
    <a:srgbClr val="FFFFFF"/>
    <a:srgbClr val="021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FD7A8-E788-4BB0-82B7-330E8AF91CE8}" v="13" dt="2026-07-27T07:49:16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>
        <p:scale>
          <a:sx n="33" d="100"/>
          <a:sy n="33" d="100"/>
        </p:scale>
        <p:origin x="1200" y="496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font" Target="fonts/font13.fntdata"/><Relationship Id="rId35" Type="http://schemas.openxmlformats.org/officeDocument/2006/relationships/font" Target="fonts/font14.fntdata"/><Relationship Id="rId36" Type="http://schemas.openxmlformats.org/officeDocument/2006/relationships/font" Target="fonts/font15.fntdata"/><Relationship Id="rId37" Type="http://schemas.openxmlformats.org/officeDocument/2006/relationships/font" Target="fonts/font16.fntdata"/><Relationship Id="rId38" Type="http://schemas.openxmlformats.org/officeDocument/2006/relationships/font" Target="fonts/font17.fntdata"/><Relationship Id="rId39" Type="http://schemas.openxmlformats.org/officeDocument/2006/relationships/font" Target="fonts/font18.fntdata"/><Relationship Id="rId40" Type="http://schemas.openxmlformats.org/officeDocument/2006/relationships/font" Target="fonts/font19.fntdata"/><Relationship Id="rId41" Type="http://schemas.openxmlformats.org/officeDocument/2006/relationships/font" Target="fonts/font20.fntdata"/><Relationship Id="rId42" Type="http://schemas.openxmlformats.org/officeDocument/2006/relationships/font" Target="fonts/font21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5/10/relationships/revisionInfo" Target="revisionInfo.xml"/><Relationship Id="rId4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4662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71D0-259F-7F62-104D-3EC502F7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627232-5202-A7CD-5FB8-B34C7525BC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B700-8E0C-6BDF-210A-72E4FA61BD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E6EEF8-2235-A753-6EBE-01BE7DFE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D1868E-8F6B-09DC-F4CB-6AC99ACB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39E68-365A-EBEA-E8F1-602E362B3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3CF38-1355-6410-F430-84D8D735C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0102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B51B-B637-15BC-B3B2-683D7C7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393C5C-A4AE-A48A-760B-3AFAA192C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BBAE9-0053-9399-30F7-90179412D9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E178FA-358E-12BD-9BCD-5F7A2AABA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ADB9C1-EB4E-45B5-86EF-04AB9438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BDF9-0E84-329B-7CCC-8423BF66EE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5926-EFAB-56A6-4901-2937ABE1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38316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71D0-259F-7F62-104D-3EC502F7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627232-5202-A7CD-5FB8-B34C7525BC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B700-8E0C-6BDF-210A-72E4FA61BD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E6EEF8-2235-A753-6EBE-01BE7DFEE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D1868E-8F6B-09DC-F4CB-6AC99ACB2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39E68-365A-EBEA-E8F1-602E362B3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3CF38-1355-6410-F430-84D8D735C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6755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B51B-B637-15BC-B3B2-683D7C78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393C5C-A4AE-A48A-760B-3AFAA192C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2BBAE9-0053-9399-30F7-90179412D9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E178FA-358E-12BD-9BCD-5F7A2AABA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4ADB9C1-EB4E-45B5-86EF-04AB9438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Today, we will look at 4 cities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FBDF9-0E84-329B-7CCC-8423BF66EE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5926-EFAB-56A6-4901-2937ABE1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0632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VALUE</a:t>
            </a:r>
          </a:p>
          <a:p>
            <a:r>
              <a:rPr lang="en-US"/>
              <a:t>Thank you for giving us the opportunity to show how we can bring value to your organization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Relationship Id="rId6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Relationship Id="rId6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34.jpeg"/><Relationship Id="rId7" Type="http://schemas.openxmlformats.org/officeDocument/2006/relationships/image" Target="../media/image3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36253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33350" y="534611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7885" y="6383963"/>
            <a:ext cx="9593957" cy="112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Available Warehouse Properties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376931" y="8736381"/>
            <a:ext cx="1170006" cy="895542"/>
          </a:xfrm>
          <a:custGeom>
            <a:avLst/>
            <a:gdLst/>
            <a:ahLst/>
            <a:cxnLst/>
            <a:rect l="l" t="t" r="r" b="b"/>
            <a:pathLst>
              <a:path w="1170006" h="895542">
                <a:moveTo>
                  <a:pt x="0" y="0"/>
                </a:moveTo>
                <a:lnTo>
                  <a:pt x="1170007" y="0"/>
                </a:lnTo>
                <a:lnTo>
                  <a:pt x="1170007" y="895542"/>
                </a:lnTo>
                <a:lnTo>
                  <a:pt x="0" y="895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7885" y="7886700"/>
            <a:ext cx="15021731" cy="112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Cavite &amp; Laguna Logistics Corridor</a:t>
            </a:r>
          </a:p>
        </p:txBody>
      </p:sp>
    </p:spTree>
    <p:extLst>
      <p:ext uri="{BB962C8B-B14F-4D97-AF65-F5344CB8AC3E}">
        <p14:creationId xmlns:p14="http://schemas.microsoft.com/office/powerpoint/2010/main" val="268335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61" y="3464574"/>
            <a:ext cx="1908564" cy="226586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440965" y="781050"/>
            <a:ext cx="3406070" cy="915381"/>
          </a:xfrm>
          <a:custGeom>
            <a:avLst/>
            <a:gdLst/>
            <a:ahLst/>
            <a:cxnLst/>
            <a:rect l="l" t="t" r="r" b="b"/>
            <a:pathLst>
              <a:path w="3406070" h="915381">
                <a:moveTo>
                  <a:pt x="0" y="0"/>
                </a:moveTo>
                <a:lnTo>
                  <a:pt x="3406070" y="0"/>
                </a:lnTo>
                <a:lnTo>
                  <a:pt x="3406070" y="915381"/>
                </a:lnTo>
                <a:lnTo>
                  <a:pt x="0" y="915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4" name="Group 14"/>
          <p:cNvGrpSpPr/>
          <p:nvPr/>
        </p:nvGrpSpPr>
        <p:grpSpPr>
          <a:xfrm>
            <a:off x="0" y="10112604"/>
            <a:ext cx="18288000" cy="174396"/>
            <a:chOff x="0" y="0"/>
            <a:chExt cx="4816593" cy="45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45931"/>
            </a:xfrm>
            <a:custGeom>
              <a:avLst/>
              <a:gdLst/>
              <a:ahLst/>
              <a:cxnLst/>
              <a:rect l="l" t="t" r="r" b="b"/>
              <a:pathLst>
                <a:path w="4816592" h="45931">
                  <a:moveTo>
                    <a:pt x="0" y="0"/>
                  </a:moveTo>
                  <a:lnTo>
                    <a:pt x="4816592" y="0"/>
                  </a:lnTo>
                  <a:lnTo>
                    <a:pt x="4816592" y="45931"/>
                  </a:lnTo>
                  <a:lnTo>
                    <a:pt x="0" y="45931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816593" cy="5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028700" y="6228502"/>
            <a:ext cx="16230600" cy="0"/>
          </a:xfrm>
          <a:prstGeom prst="line">
            <a:avLst/>
          </a:prstGeom>
          <a:ln w="50800" cap="flat">
            <a:solidFill>
              <a:srgbClr val="0033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Box 19"/>
          <p:cNvSpPr txBox="1"/>
          <p:nvPr/>
        </p:nvSpPr>
        <p:spPr>
          <a:xfrm>
            <a:off x="1149532" y="6633896"/>
            <a:ext cx="288575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7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BY: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582" y="7129196"/>
            <a:ext cx="743486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endParaRPr lang="en-US" sz="2200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</a:endParaRPr>
          </a:p>
          <a:p>
            <a:pPr algn="l">
              <a:lnSpc>
                <a:spcPts val="2640"/>
              </a:lnSpc>
            </a:pPr>
            <a:endParaRPr lang="en-US" sz="2200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8502" y="7114473"/>
            <a:ext cx="454811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Cedtrix Rena</a:t>
            </a:r>
          </a:p>
          <a:p>
            <a:r>
              <a:t>Sr. Leasing Advisor</a:t>
            </a:r>
          </a:p>
          <a:p>
            <a:r>
              <a:t>PRIME Philippines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3190" y="6633896"/>
            <a:ext cx="293312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7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FOR:</a:t>
            </a:r>
          </a:p>
        </p:txBody>
      </p:sp>
      <p:sp>
        <p:nvSpPr>
          <p:cNvPr id="25" name="AutoShape 6" descr="‎UNIQLO AU on the App Store">
            <a:extLst>
              <a:ext uri="{FF2B5EF4-FFF2-40B4-BE49-F238E27FC236}">
                <a16:creationId xmlns:a16="http://schemas.microsoft.com/office/drawing/2014/main" id="{5511D4F5-A3CA-176A-7E7C-BC5FAE61DB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3A31A0C5-EB9E-4EF9-49B7-AD9BF96A59F0}"/>
              </a:ext>
            </a:extLst>
          </p:cNvPr>
          <p:cNvSpPr txBox="1"/>
          <p:nvPr/>
        </p:nvSpPr>
        <p:spPr>
          <a:xfrm>
            <a:off x="6879825" y="2224255"/>
            <a:ext cx="4766743" cy="559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LOGISTICS &amp; WAREHOUSE PROPOSAL FOR</a:t>
            </a: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FE1689E2-15F1-89D9-7AD3-1A750CDB0559}"/>
              </a:ext>
            </a:extLst>
          </p:cNvPr>
          <p:cNvSpPr txBox="1"/>
          <p:nvPr/>
        </p:nvSpPr>
        <p:spPr>
          <a:xfrm>
            <a:off x="10040570" y="7144136"/>
            <a:ext cx="454811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t>Marcus Vance</a:t>
            </a:r>
          </a:p>
          <a:p>
            <a:r>
              <a:t>Supply Chain Director</a:t>
            </a:r>
          </a:p>
          <a:p>
            <a:r>
              <a:t>Global Freight Logistics Philippines Inc.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6C60545A-C96B-9B52-0D25-41475205D097}"/>
              </a:ext>
            </a:extLst>
          </p:cNvPr>
          <p:cNvSpPr txBox="1"/>
          <p:nvPr/>
        </p:nvSpPr>
        <p:spPr>
          <a:xfrm>
            <a:off x="6341902" y="5689966"/>
            <a:ext cx="5908996" cy="27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GLOBAL FREIGHT LOGISTICS PHILIPPINES INC.</a:t>
            </a:r>
          </a:p>
        </p:txBody>
      </p:sp>
      <p:pic>
        <p:nvPicPr>
          <p:cNvPr id="1026" name="Picture 2" descr="S.F. Express logo in transparent PNG and vectorized SVG formats">
            <a:extLst>
              <a:ext uri="{FF2B5EF4-FFF2-40B4-BE49-F238E27FC236}">
                <a16:creationId xmlns:a16="http://schemas.microsoft.com/office/drawing/2014/main" id="{6CF038B2-F65D-4FC0-B862-5D5C18B69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201" y="3101448"/>
            <a:ext cx="2173594" cy="217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66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AEDF-22BF-4D70-9116-5310D35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296E3-AE5F-B3F5-49E5-41AF61BAEFBB}"/>
              </a:ext>
            </a:extLst>
          </p:cNvPr>
          <p:cNvGrpSpPr/>
          <p:nvPr/>
        </p:nvGrpSpPr>
        <p:grpSpPr>
          <a:xfrm>
            <a:off x="-234695" y="14287"/>
            <a:ext cx="18522691" cy="9979140"/>
            <a:chOff x="0" y="0"/>
            <a:chExt cx="28600182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CF6D3D-1334-1CF4-7D3A-A2646BEBB60D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8A3BBA-E610-F26A-8FCC-08DC0BD63264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4B01C1-AA66-C9AE-01B7-F5E91EFEC8EE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605472-17DD-B29E-1F13-FCD46804B4E3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0C7E0-3043-A8CE-3FA6-EFB195EE7F97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544C7-0DC7-8137-5C0F-05AF42C7B88E}"/>
                </a:ext>
              </a:extLst>
            </p:cNvPr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5FD68D-1D3D-533F-CF6A-545EC14E740F}"/>
                </a:ext>
              </a:extLst>
            </p:cNvPr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ADF30C-02B1-0E97-FB30-19D38943AE54}"/>
                </a:ext>
              </a:extLst>
            </p:cNvPr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458918-FCC2-D6AA-50CC-BD00E875EDE2}"/>
              </a:ext>
            </a:extLst>
          </p:cNvPr>
          <p:cNvGrpSpPr/>
          <p:nvPr/>
        </p:nvGrpSpPr>
        <p:grpSpPr>
          <a:xfrm>
            <a:off x="0" y="9993427"/>
            <a:ext cx="18288000" cy="454842"/>
            <a:chOff x="0" y="0"/>
            <a:chExt cx="4816593" cy="1197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4E2197-1EB4-F568-37A5-059F80FE7B13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2C69BA-E765-88C4-6348-D0D95B1F7AA4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32DD1EA-14F1-4C37-3EDC-D73FEB18B1A9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49FD88-9EB0-46F9-AFAA-60086601D2A1}"/>
              </a:ext>
            </a:extLst>
          </p:cNvPr>
          <p:cNvSpPr txBox="1"/>
          <p:nvPr/>
        </p:nvSpPr>
        <p:spPr>
          <a:xfrm>
            <a:off x="509239" y="530529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Apex Logistics Center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012B5A4-AAB9-87E5-A287-23923D5C33D2}"/>
              </a:ext>
            </a:extLst>
          </p:cNvPr>
          <p:cNvSpPr txBox="1"/>
          <p:nvPr/>
        </p:nvSpPr>
        <p:spPr>
          <a:xfrm>
            <a:off x="550891" y="953545"/>
            <a:ext cx="6833680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Carmona, Cavite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63F595A-1927-0443-7A99-6570BBCC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47336"/>
              </p:ext>
            </p:extLst>
          </p:nvPr>
        </p:nvGraphicFramePr>
        <p:xfrm>
          <a:off x="347835" y="1915721"/>
          <a:ext cx="7795565" cy="3520691"/>
        </p:xfrm>
        <a:graphic>
          <a:graphicData uri="http://schemas.openxmlformats.org/drawingml/2006/table">
            <a:tbl>
              <a:tblPr/>
              <a:tblGrid>
                <a:gridCol w="3246265">
                  <a:extLst>
                    <a:ext uri="{9D8B030D-6E8A-4147-A177-3AD203B41FA5}">
                      <a16:colId xmlns:a16="http://schemas.microsoft.com/office/drawing/2014/main" val="392589609"/>
                    </a:ext>
                  </a:extLst>
                </a:gridCol>
                <a:gridCol w="4549300">
                  <a:extLst>
                    <a:ext uri="{9D8B030D-6E8A-4147-A177-3AD203B41FA5}">
                      <a16:colId xmlns:a16="http://schemas.microsoft.com/office/drawing/2014/main" val="2588734391"/>
                    </a:ext>
                  </a:extLst>
                </a:gridCol>
              </a:tblGrid>
              <a:tr h="637473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AVAILABLE UNITS FOR LEASE</a:t>
                      </a:r>
                      <a:r>
                        <a:rPr lang="en-PH" sz="28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​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6809671"/>
                  </a:ext>
                </a:extLst>
              </a:tr>
              <a:tr h="31009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Area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26538"/>
                  </a:ext>
                </a:extLst>
              </a:tr>
              <a:tr h="699515"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Covered Area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10,500 sqm</a:t>
                      </a:r>
                      <a:endParaRPr lang="en-US" sz="1800" dirty="0"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429958"/>
                  </a:ext>
                </a:extLst>
              </a:tr>
              <a:tr h="856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Open Yard / Parking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2,200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16256"/>
                  </a:ext>
                </a:extLst>
              </a:tr>
              <a:tr h="9618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TOTAL LEASABLE AREA</a:t>
                      </a:r>
                      <a:endParaRPr lang="en-US" sz="1800" b="1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12,700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8784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5679A0D-60DB-6EC0-E2F2-D26125E7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21000"/>
              </p:ext>
            </p:extLst>
          </p:nvPr>
        </p:nvGraphicFramePr>
        <p:xfrm>
          <a:off x="289497" y="5772130"/>
          <a:ext cx="7853903" cy="3917328"/>
        </p:xfrm>
        <a:graphic>
          <a:graphicData uri="http://schemas.openxmlformats.org/drawingml/2006/table">
            <a:tbl>
              <a:tblPr/>
              <a:tblGrid>
                <a:gridCol w="3329246">
                  <a:extLst>
                    <a:ext uri="{9D8B030D-6E8A-4147-A177-3AD203B41FA5}">
                      <a16:colId xmlns:a16="http://schemas.microsoft.com/office/drawing/2014/main" val="2100264254"/>
                    </a:ext>
                  </a:extLst>
                </a:gridCol>
                <a:gridCol w="4524657">
                  <a:extLst>
                    <a:ext uri="{9D8B030D-6E8A-4147-A177-3AD203B41FA5}">
                      <a16:colId xmlns:a16="http://schemas.microsoft.com/office/drawing/2014/main" val="1935730497"/>
                    </a:ext>
                  </a:extLst>
                </a:gridCol>
              </a:tblGrid>
              <a:tr h="512486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LEASE TERMS AND CONDITION</a:t>
                      </a:r>
                      <a:r>
                        <a:rPr lang="en-PH" sz="2100" b="0" i="0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​​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26086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(Covered)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Php 380.00/sqm + VAT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403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(Yard)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2060"/>
                          </a:solidFill>
                          <a:latin typeface="Century Gothic"/>
                        </a:rPr>
                        <a:t>Php 120.00/sqm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8072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CUSA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Php 35.00/sqm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39804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Escalation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5% Annually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3481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Min. Lease Term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5 Years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252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Advance Rent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180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 Deposit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57182"/>
                  </a:ext>
                </a:extLst>
              </a:tr>
            </a:tbl>
          </a:graphicData>
        </a:graphic>
      </p:graphicFrame>
      <p:sp>
        <p:nvSpPr>
          <p:cNvPr id="17" name="AutoShape 4" descr=", AI generated">
            <a:extLst>
              <a:ext uri="{FF2B5EF4-FFF2-40B4-BE49-F238E27FC236}">
                <a16:creationId xmlns:a16="http://schemas.microsoft.com/office/drawing/2014/main" id="{8F0B097F-817A-C130-DC55-4F3AD909D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35B37818-5526-7574-6F06-3EF3C9DEFB5E}"/>
              </a:ext>
            </a:extLst>
          </p:cNvPr>
          <p:cNvSpPr/>
          <p:nvPr/>
        </p:nvSpPr>
        <p:spPr>
          <a:xfrm>
            <a:off x="8624413" y="8480857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85BD35-E803-B24C-BB84-DBE3AF538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560" y="2196901"/>
            <a:ext cx="9533943" cy="71504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060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16A8-DB78-D3C3-1061-CE2B352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81F1E9-2F31-2336-025D-92845AECDF65}"/>
              </a:ext>
            </a:extLst>
          </p:cNvPr>
          <p:cNvGrpSpPr/>
          <p:nvPr/>
        </p:nvGrpSpPr>
        <p:grpSpPr>
          <a:xfrm>
            <a:off x="-152400" y="0"/>
            <a:ext cx="18287996" cy="9993427"/>
            <a:chOff x="0" y="0"/>
            <a:chExt cx="28600181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DA01D6-CA97-C21E-ECCC-3052B295E21A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136058-B36A-6F83-679D-14159F515022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47BAB4-7265-90DC-6934-435D67BBA3BC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FB7B9C-3EE2-93F5-8BA3-1E0F70A01321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AA59E1-67DA-11A5-BC28-58CFA77693EA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467C-C77A-BA2A-35C0-E26D4D5294D5}"/>
                </a:ext>
              </a:extLst>
            </p:cNvPr>
            <p:cNvSpPr/>
            <p:nvPr/>
          </p:nvSpPr>
          <p:spPr>
            <a:xfrm>
              <a:off x="7150046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89D5FC-FF70-B51A-F242-E83171E35C6D}"/>
                </a:ext>
              </a:extLst>
            </p:cNvPr>
            <p:cNvSpPr/>
            <p:nvPr/>
          </p:nvSpPr>
          <p:spPr>
            <a:xfrm>
              <a:off x="14300091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A2B09-3ED0-9434-3FCE-A43A527004BC}"/>
                </a:ext>
              </a:extLst>
            </p:cNvPr>
            <p:cNvSpPr/>
            <p:nvPr/>
          </p:nvSpPr>
          <p:spPr>
            <a:xfrm>
              <a:off x="21450135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F5A0685-9A7A-6DD0-B45D-E7742901CCBD}"/>
              </a:ext>
            </a:extLst>
          </p:cNvPr>
          <p:cNvSpPr txBox="1"/>
          <p:nvPr/>
        </p:nvSpPr>
        <p:spPr>
          <a:xfrm>
            <a:off x="564150" y="805180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6199">
                <a:solidFill>
                  <a:srgbClr val="021A3D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Details 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C509624-4BD1-29AE-AEFC-DDABE75B4A51}"/>
              </a:ext>
            </a:extLst>
          </p:cNvPr>
          <p:cNvSpPr/>
          <p:nvPr/>
        </p:nvSpPr>
        <p:spPr>
          <a:xfrm>
            <a:off x="0" y="9993427"/>
            <a:ext cx="18287996" cy="454842"/>
          </a:xfrm>
          <a:custGeom>
            <a:avLst/>
            <a:gdLst/>
            <a:ahLst/>
            <a:cxnLst/>
            <a:rect l="l" t="t" r="r" b="b"/>
            <a:pathLst>
              <a:path w="4816592" h="119794">
                <a:moveTo>
                  <a:pt x="0" y="0"/>
                </a:moveTo>
                <a:lnTo>
                  <a:pt x="4816592" y="0"/>
                </a:lnTo>
                <a:lnTo>
                  <a:pt x="4816592" y="119794"/>
                </a:lnTo>
                <a:lnTo>
                  <a:pt x="0" y="119794"/>
                </a:lnTo>
                <a:close/>
              </a:path>
            </a:pathLst>
          </a:custGeom>
          <a:gradFill rotWithShape="1">
            <a:gsLst>
              <a:gs pos="0">
                <a:srgbClr val="0C0C0E">
                  <a:alpha val="100000"/>
                </a:srgbClr>
              </a:gs>
              <a:gs pos="50000">
                <a:srgbClr val="003366">
                  <a:alpha val="100000"/>
                </a:srgbClr>
              </a:gs>
              <a:gs pos="100000">
                <a:srgbClr val="C9A84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PH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25E4838-602D-F096-5D48-77210600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58812"/>
            <a:ext cx="20859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8B8B3AC5-74CC-1821-6AD7-17EE9BD843A7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05DC78-04BD-72E1-84E2-4908DC31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2019"/>
              </p:ext>
            </p:extLst>
          </p:nvPr>
        </p:nvGraphicFramePr>
        <p:xfrm>
          <a:off x="509238" y="7217536"/>
          <a:ext cx="7077025" cy="21387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918">
                  <a:extLst>
                    <a:ext uri="{9D8B030D-6E8A-4147-A177-3AD203B41FA5}">
                      <a16:colId xmlns:a16="http://schemas.microsoft.com/office/drawing/2014/main" val="1407389506"/>
                    </a:ext>
                  </a:extLst>
                </a:gridCol>
                <a:gridCol w="4150107">
                  <a:extLst>
                    <a:ext uri="{9D8B030D-6E8A-4147-A177-3AD203B41FA5}">
                      <a16:colId xmlns:a16="http://schemas.microsoft.com/office/drawing/2014/main" val="467239703"/>
                    </a:ext>
                  </a:extLst>
                </a:gridCol>
              </a:tblGrid>
              <a:tr h="510158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15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ACCESSIBILITY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1092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 marL="7620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Distance from: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711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6650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National Highway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400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9027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SLEX – Carmona Exit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1.8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11834"/>
                  </a:ext>
                </a:extLst>
              </a:tr>
              <a:tr h="372809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CALAX Interchange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3.2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362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DC076A-016B-4144-3270-248E5BC8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491927"/>
              </p:ext>
            </p:extLst>
          </p:nvPr>
        </p:nvGraphicFramePr>
        <p:xfrm>
          <a:off x="509239" y="1706520"/>
          <a:ext cx="7077025" cy="52973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9530">
                  <a:extLst>
                    <a:ext uri="{9D8B030D-6E8A-4147-A177-3AD203B41FA5}">
                      <a16:colId xmlns:a16="http://schemas.microsoft.com/office/drawing/2014/main" val="1989019544"/>
                    </a:ext>
                  </a:extLst>
                </a:gridCol>
                <a:gridCol w="4287495">
                  <a:extLst>
                    <a:ext uri="{9D8B030D-6E8A-4147-A177-3AD203B41FA5}">
                      <a16:colId xmlns:a16="http://schemas.microsoft.com/office/drawing/2014/main" val="3021649425"/>
                    </a:ext>
                  </a:extLst>
                </a:gridCol>
              </a:tblGrid>
              <a:tr h="664772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75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SPECIFICATIONS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000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40112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Loading Area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253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12 Elevated Docks with Dock Levelers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1646"/>
                  </a:ext>
                </a:extLst>
              </a:tr>
              <a:tr h="517045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APEX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14.5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39624"/>
                  </a:ext>
                </a:extLst>
              </a:tr>
              <a:tr h="553976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Shoulder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12.0 meters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12738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Vehicle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40-ft and 45-ft Container Trucks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44271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Floor Load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5 tons/sqm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33430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Three-Phase 400 KVA Dedicated Transformer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88835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Fire Protection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ESFR Sprinklers &amp; Central FDAS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47600"/>
                  </a:ext>
                </a:extLst>
              </a:tr>
              <a:tr h="611067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Ideal Use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FMCG Distribution, 3PL Logistics, Cold Chain Conversion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09018"/>
                  </a:ext>
                </a:extLst>
              </a:tr>
              <a:tr h="549971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Others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FDAS &amp; Sprinklers / Sewage Treatment</a:t>
                      </a:r>
                      <a:b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</a:b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Plant / Cistern Tank / Backup Genset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86474"/>
                  </a:ext>
                </a:extLst>
              </a:tr>
            </a:tbl>
          </a:graphicData>
        </a:graphic>
      </p:graphicFrame>
      <p:sp>
        <p:nvSpPr>
          <p:cNvPr id="23" name="Freeform 14">
            <a:extLst>
              <a:ext uri="{FF2B5EF4-FFF2-40B4-BE49-F238E27FC236}">
                <a16:creationId xmlns:a16="http://schemas.microsoft.com/office/drawing/2014/main" id="{D4BD1B25-6C7B-0DCF-174A-23D44AEA536B}"/>
              </a:ext>
            </a:extLst>
          </p:cNvPr>
          <p:cNvSpPr/>
          <p:nvPr/>
        </p:nvSpPr>
        <p:spPr>
          <a:xfrm>
            <a:off x="8257482" y="7939975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EEB32-4F2E-1CF3-BD02-AA29EAD8C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939" y="1966069"/>
            <a:ext cx="9856666" cy="74649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257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AEDF-22BF-4D70-9116-5310D35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E296E3-AE5F-B3F5-49E5-41AF61BAEFBB}"/>
              </a:ext>
            </a:extLst>
          </p:cNvPr>
          <p:cNvGrpSpPr/>
          <p:nvPr/>
        </p:nvGrpSpPr>
        <p:grpSpPr>
          <a:xfrm>
            <a:off x="-234695" y="14287"/>
            <a:ext cx="18522691" cy="9979140"/>
            <a:chOff x="0" y="0"/>
            <a:chExt cx="28600182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CF6D3D-1334-1CF4-7D3A-A2646BEBB60D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8A3BBA-E610-F26A-8FCC-08DC0BD63264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4B01C1-AA66-C9AE-01B7-F5E91EFEC8EE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605472-17DD-B29E-1F13-FCD46804B4E3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0C7E0-3043-A8CE-3FA6-EFB195EE7F97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544C7-0DC7-8137-5C0F-05AF42C7B88E}"/>
                </a:ext>
              </a:extLst>
            </p:cNvPr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A5FD68D-1D3D-533F-CF6A-545EC14E740F}"/>
                </a:ext>
              </a:extLst>
            </p:cNvPr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ADF30C-02B1-0E97-FB30-19D38943AE54}"/>
                </a:ext>
              </a:extLst>
            </p:cNvPr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458918-FCC2-D6AA-50CC-BD00E875EDE2}"/>
              </a:ext>
            </a:extLst>
          </p:cNvPr>
          <p:cNvGrpSpPr/>
          <p:nvPr/>
        </p:nvGrpSpPr>
        <p:grpSpPr>
          <a:xfrm>
            <a:off x="0" y="9993427"/>
            <a:ext cx="18288000" cy="454842"/>
            <a:chOff x="0" y="0"/>
            <a:chExt cx="4816593" cy="1197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4E2197-1EB4-F568-37A5-059F80FE7B13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2C69BA-E765-88C4-6348-D0D95B1F7AA4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32DD1EA-14F1-4C37-3EDC-D73FEB18B1A9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149FD88-9EB0-46F9-AFAA-60086601D2A1}"/>
              </a:ext>
            </a:extLst>
          </p:cNvPr>
          <p:cNvSpPr txBox="1"/>
          <p:nvPr/>
        </p:nvSpPr>
        <p:spPr>
          <a:xfrm>
            <a:off x="509239" y="530529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Metro South Industrial Park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012B5A4-AAB9-87E5-A287-23923D5C33D2}"/>
              </a:ext>
            </a:extLst>
          </p:cNvPr>
          <p:cNvSpPr txBox="1"/>
          <p:nvPr/>
        </p:nvSpPr>
        <p:spPr>
          <a:xfrm>
            <a:off x="550891" y="953545"/>
            <a:ext cx="6833680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Santa Rosa, Laguna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63F595A-1927-0443-7A99-6570BBCCA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597328"/>
              </p:ext>
            </p:extLst>
          </p:nvPr>
        </p:nvGraphicFramePr>
        <p:xfrm>
          <a:off x="347835" y="1915721"/>
          <a:ext cx="7795565" cy="3520691"/>
        </p:xfrm>
        <a:graphic>
          <a:graphicData uri="http://schemas.openxmlformats.org/drawingml/2006/table">
            <a:tbl>
              <a:tblPr/>
              <a:tblGrid>
                <a:gridCol w="3246265">
                  <a:extLst>
                    <a:ext uri="{9D8B030D-6E8A-4147-A177-3AD203B41FA5}">
                      <a16:colId xmlns:a16="http://schemas.microsoft.com/office/drawing/2014/main" val="392589609"/>
                    </a:ext>
                  </a:extLst>
                </a:gridCol>
                <a:gridCol w="4549300">
                  <a:extLst>
                    <a:ext uri="{9D8B030D-6E8A-4147-A177-3AD203B41FA5}">
                      <a16:colId xmlns:a16="http://schemas.microsoft.com/office/drawing/2014/main" val="2588734391"/>
                    </a:ext>
                  </a:extLst>
                </a:gridCol>
              </a:tblGrid>
              <a:tr h="637473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AVAILABLE UNITS FOR LEASE</a:t>
                      </a:r>
                      <a:r>
                        <a:rPr lang="en-PH" sz="2800" b="1" i="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​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6809671"/>
                  </a:ext>
                </a:extLst>
              </a:tr>
              <a:tr h="31009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Area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H" sz="1800" b="1" i="0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Size</a:t>
                      </a:r>
                      <a:r>
                        <a:rPr lang="en-PH" sz="1800" b="0" i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​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26538"/>
                  </a:ext>
                </a:extLst>
              </a:tr>
              <a:tr h="699515"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Warehouse Bay 1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sz="1800" b="1" i="0">
                          <a:solidFill>
                            <a:srgbClr val="003366"/>
                          </a:solidFill>
                          <a:latin typeface="Century Gothic"/>
                        </a:rPr>
                        <a:t>4,800 sqm</a:t>
                      </a:r>
                      <a:endParaRPr lang="en-US" sz="1800" dirty="0"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429958"/>
                  </a:ext>
                </a:extLst>
              </a:tr>
              <a:tr h="856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Warehouse Bay 2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5,200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16256"/>
                  </a:ext>
                </a:extLst>
              </a:tr>
              <a:tr h="96182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Mezzanine Office</a:t>
                      </a:r>
                      <a:endParaRPr lang="en-US" sz="1800" b="0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 i="0">
                          <a:latin typeface="Century Gothic"/>
                        </a:rPr>
                        <a:t>650 sqm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8784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5679A0D-60DB-6EC0-E2F2-D26125E7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13303"/>
              </p:ext>
            </p:extLst>
          </p:nvPr>
        </p:nvGraphicFramePr>
        <p:xfrm>
          <a:off x="289497" y="5772130"/>
          <a:ext cx="7853903" cy="3917328"/>
        </p:xfrm>
        <a:graphic>
          <a:graphicData uri="http://schemas.openxmlformats.org/drawingml/2006/table">
            <a:tbl>
              <a:tblPr/>
              <a:tblGrid>
                <a:gridCol w="3329246">
                  <a:extLst>
                    <a:ext uri="{9D8B030D-6E8A-4147-A177-3AD203B41FA5}">
                      <a16:colId xmlns:a16="http://schemas.microsoft.com/office/drawing/2014/main" val="2100264254"/>
                    </a:ext>
                  </a:extLst>
                </a:gridCol>
                <a:gridCol w="4524657">
                  <a:extLst>
                    <a:ext uri="{9D8B030D-6E8A-4147-A177-3AD203B41FA5}">
                      <a16:colId xmlns:a16="http://schemas.microsoft.com/office/drawing/2014/main" val="1935730497"/>
                    </a:ext>
                  </a:extLst>
                </a:gridCol>
              </a:tblGrid>
              <a:tr h="512486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PH" sz="2100" b="1" i="0" dirty="0">
                          <a:solidFill>
                            <a:srgbClr val="FFFFFF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LEASE TERMS AND CONDITION</a:t>
                      </a:r>
                      <a:r>
                        <a:rPr lang="en-PH" sz="2100" b="0" i="0" dirty="0">
                          <a:solidFill>
                            <a:srgbClr val="000000"/>
                          </a:solidFill>
                          <a:effectLst/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​​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26086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Rate (Covered)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Php 360.00/sqm + VAT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403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CUSA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2060"/>
                          </a:solidFill>
                          <a:latin typeface="Century Gothic"/>
                        </a:rPr>
                        <a:t>Php 30.00/sqm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78072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Rental Escalation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5% Yearly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39804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Min. Lease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Years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3481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Advance Rent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2523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 Deposit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3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1805"/>
                  </a:ext>
                </a:extLst>
              </a:tr>
              <a:tr h="48640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</a:rPr>
                        <a:t>Security Deposit</a:t>
                      </a:r>
                      <a:r>
                        <a:rPr lang="en-PH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​</a:t>
                      </a:r>
                      <a:endParaRPr lang="en-PH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PH" sz="1800" b="0" i="0" u="none" strike="noStrike" dirty="0">
                          <a:solidFill>
                            <a:srgbClr val="003366"/>
                          </a:solidFill>
                          <a:effectLst/>
                          <a:latin typeface="Century Gothic"/>
                        </a:rPr>
                        <a:t>Three (3) months</a:t>
                      </a:r>
                      <a:endParaRPr lang="en-PH" sz="1800" b="0" i="0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57182"/>
                  </a:ext>
                </a:extLst>
              </a:tr>
            </a:tbl>
          </a:graphicData>
        </a:graphic>
      </p:graphicFrame>
      <p:sp>
        <p:nvSpPr>
          <p:cNvPr id="17" name="AutoShape 4" descr=", AI generated">
            <a:extLst>
              <a:ext uri="{FF2B5EF4-FFF2-40B4-BE49-F238E27FC236}">
                <a16:creationId xmlns:a16="http://schemas.microsoft.com/office/drawing/2014/main" id="{8F0B097F-817A-C130-DC55-4F3AD909DF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35B37818-5526-7574-6F06-3EF3C9DEFB5E}"/>
              </a:ext>
            </a:extLst>
          </p:cNvPr>
          <p:cNvSpPr/>
          <p:nvPr/>
        </p:nvSpPr>
        <p:spPr>
          <a:xfrm>
            <a:off x="8624413" y="8480857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CE7E96-AF49-540C-D2E3-D9FDA5CD6B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119" y="2242791"/>
            <a:ext cx="9443672" cy="70827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14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16A8-DB78-D3C3-1061-CE2B352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81F1E9-2F31-2336-025D-92845AECDF65}"/>
              </a:ext>
            </a:extLst>
          </p:cNvPr>
          <p:cNvGrpSpPr/>
          <p:nvPr/>
        </p:nvGrpSpPr>
        <p:grpSpPr>
          <a:xfrm>
            <a:off x="-152400" y="0"/>
            <a:ext cx="18287996" cy="9993427"/>
            <a:chOff x="0" y="0"/>
            <a:chExt cx="28600181" cy="143071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DA01D6-CA97-C21E-ECCC-3052B295E21A}"/>
                </a:ext>
              </a:extLst>
            </p:cNvPr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8136058-B36A-6F83-679D-14159F515022}"/>
                </a:ext>
              </a:extLst>
            </p:cNvPr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D47BAB4-7265-90DC-6934-435D67BBA3BC}"/>
                </a:ext>
              </a:extLst>
            </p:cNvPr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FB7B9C-3EE2-93F5-8BA3-1E0F70A01321}"/>
                </a:ext>
              </a:extLst>
            </p:cNvPr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AA59E1-67DA-11A5-BC28-58CFA77693EA}"/>
                </a:ext>
              </a:extLst>
            </p:cNvPr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467C-C77A-BA2A-35C0-E26D4D5294D5}"/>
                </a:ext>
              </a:extLst>
            </p:cNvPr>
            <p:cNvSpPr/>
            <p:nvPr/>
          </p:nvSpPr>
          <p:spPr>
            <a:xfrm>
              <a:off x="7150046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89D5FC-FF70-B51A-F242-E83171E35C6D}"/>
                </a:ext>
              </a:extLst>
            </p:cNvPr>
            <p:cNvSpPr/>
            <p:nvPr/>
          </p:nvSpPr>
          <p:spPr>
            <a:xfrm>
              <a:off x="14300091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FA2B09-3ED0-9434-3FCE-A43A527004BC}"/>
                </a:ext>
              </a:extLst>
            </p:cNvPr>
            <p:cNvSpPr/>
            <p:nvPr/>
          </p:nvSpPr>
          <p:spPr>
            <a:xfrm>
              <a:off x="21450135" y="7153552"/>
              <a:ext cx="7150046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64" b="-215"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AF5A0685-9A7A-6DD0-B45D-E7742901CCBD}"/>
              </a:ext>
            </a:extLst>
          </p:cNvPr>
          <p:cNvSpPr txBox="1"/>
          <p:nvPr/>
        </p:nvSpPr>
        <p:spPr>
          <a:xfrm>
            <a:off x="564150" y="805180"/>
            <a:ext cx="12016688" cy="7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6199">
                <a:solidFill>
                  <a:srgbClr val="021A3D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Details 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C509624-4BD1-29AE-AEFC-DDABE75B4A51}"/>
              </a:ext>
            </a:extLst>
          </p:cNvPr>
          <p:cNvSpPr/>
          <p:nvPr/>
        </p:nvSpPr>
        <p:spPr>
          <a:xfrm>
            <a:off x="0" y="9993427"/>
            <a:ext cx="18287996" cy="454842"/>
          </a:xfrm>
          <a:custGeom>
            <a:avLst/>
            <a:gdLst/>
            <a:ahLst/>
            <a:cxnLst/>
            <a:rect l="l" t="t" r="r" b="b"/>
            <a:pathLst>
              <a:path w="4816592" h="119794">
                <a:moveTo>
                  <a:pt x="0" y="0"/>
                </a:moveTo>
                <a:lnTo>
                  <a:pt x="4816592" y="0"/>
                </a:lnTo>
                <a:lnTo>
                  <a:pt x="4816592" y="119794"/>
                </a:lnTo>
                <a:lnTo>
                  <a:pt x="0" y="119794"/>
                </a:lnTo>
                <a:close/>
              </a:path>
            </a:pathLst>
          </a:custGeom>
          <a:gradFill rotWithShape="1">
            <a:gsLst>
              <a:gs pos="0">
                <a:srgbClr val="0C0C0E">
                  <a:alpha val="100000"/>
                </a:srgbClr>
              </a:gs>
              <a:gs pos="50000">
                <a:srgbClr val="003366">
                  <a:alpha val="100000"/>
                </a:srgbClr>
              </a:gs>
              <a:gs pos="100000">
                <a:srgbClr val="C9A84C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en-PH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25E4838-602D-F096-5D48-77210600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58812"/>
            <a:ext cx="208597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Freeform 14">
            <a:extLst>
              <a:ext uri="{FF2B5EF4-FFF2-40B4-BE49-F238E27FC236}">
                <a16:creationId xmlns:a16="http://schemas.microsoft.com/office/drawing/2014/main" id="{8B8B3AC5-74CC-1821-6AD7-17EE9BD843A7}"/>
              </a:ext>
            </a:extLst>
          </p:cNvPr>
          <p:cNvSpPr/>
          <p:nvPr/>
        </p:nvSpPr>
        <p:spPr>
          <a:xfrm>
            <a:off x="16739839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05DC78-04BD-72E1-84E2-4908DC31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92067"/>
              </p:ext>
            </p:extLst>
          </p:nvPr>
        </p:nvGraphicFramePr>
        <p:xfrm>
          <a:off x="503805" y="6711080"/>
          <a:ext cx="7077025" cy="21387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918">
                  <a:extLst>
                    <a:ext uri="{9D8B030D-6E8A-4147-A177-3AD203B41FA5}">
                      <a16:colId xmlns:a16="http://schemas.microsoft.com/office/drawing/2014/main" val="1407389506"/>
                    </a:ext>
                  </a:extLst>
                </a:gridCol>
                <a:gridCol w="4150107">
                  <a:extLst>
                    <a:ext uri="{9D8B030D-6E8A-4147-A177-3AD203B41FA5}">
                      <a16:colId xmlns:a16="http://schemas.microsoft.com/office/drawing/2014/main" val="467239703"/>
                    </a:ext>
                  </a:extLst>
                </a:gridCol>
              </a:tblGrid>
              <a:tr h="510158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150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ACCESSIBILITY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1092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 marL="7620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0" i="0" spc="-75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Distance from: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711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6650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Sta. Rosa - Tagaytay Road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1F5F"/>
                          </a:solidFill>
                          <a:latin typeface="Century Gothic"/>
                        </a:rPr>
                        <a:t>600 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9027"/>
                  </a:ext>
                </a:extLst>
              </a:tr>
              <a:tr h="43167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SLEX – Santa Rosa Exit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2.5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11834"/>
                  </a:ext>
                </a:extLst>
              </a:tr>
              <a:tr h="372809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SLEX – Eton Exit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4.1 km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8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362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BDC076A-016B-4144-3270-248E5BC8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386154"/>
              </p:ext>
            </p:extLst>
          </p:nvPr>
        </p:nvGraphicFramePr>
        <p:xfrm>
          <a:off x="509239" y="1706520"/>
          <a:ext cx="7077025" cy="47474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89530">
                  <a:extLst>
                    <a:ext uri="{9D8B030D-6E8A-4147-A177-3AD203B41FA5}">
                      <a16:colId xmlns:a16="http://schemas.microsoft.com/office/drawing/2014/main" val="1989019544"/>
                    </a:ext>
                  </a:extLst>
                </a:gridCol>
                <a:gridCol w="4287495">
                  <a:extLst>
                    <a:ext uri="{9D8B030D-6E8A-4147-A177-3AD203B41FA5}">
                      <a16:colId xmlns:a16="http://schemas.microsoft.com/office/drawing/2014/main" val="3021649425"/>
                    </a:ext>
                  </a:extLst>
                </a:gridCol>
              </a:tblGrid>
              <a:tr h="664772">
                <a:tc gridSpan="2">
                  <a:txBody>
                    <a:bodyPr/>
                    <a:lstStyle/>
                    <a:p>
                      <a:pPr marL="85725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100" b="1" i="0" spc="-75" dirty="0">
                          <a:solidFill>
                            <a:srgbClr val="FFFFFF"/>
                          </a:solidFill>
                          <a:effectLst/>
                          <a:latin typeface="Century Gothic Paneuropean"/>
                          <a:cs typeface="Century Gothic Paneuropean"/>
                        </a:rPr>
                        <a:t>SPECIFICATIONS</a:t>
                      </a:r>
                      <a:endParaRPr lang="en-US" sz="2100" b="0" i="0" dirty="0">
                        <a:solidFill>
                          <a:srgbClr val="000000"/>
                        </a:solidFill>
                        <a:effectLst/>
                        <a:latin typeface="Century Gothic Paneuropean"/>
                        <a:cs typeface="Century Gothic Paneuropean"/>
                      </a:endParaRPr>
                    </a:p>
                  </a:txBody>
                  <a:tcPr marT="4000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40112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Loading Area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253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8 Cross-Dock Bays with Canopy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1646"/>
                  </a:ext>
                </a:extLst>
              </a:tr>
              <a:tr h="517045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APEX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13.0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39624"/>
                  </a:ext>
                </a:extLst>
              </a:tr>
              <a:tr h="553976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Shoulder Height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10.5 meters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412738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Vehicle Capacity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Up to 40 ft. Container Chassis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44271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Security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24/7 Guarded Gated Industrial Complex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33430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Electrical Load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High-Voltage Three Phase Ready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91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88835"/>
                  </a:ext>
                </a:extLst>
              </a:tr>
              <a:tr h="480113"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366"/>
                          </a:solidFill>
                          <a:latin typeface="Century Gothic"/>
                        </a:rPr>
                        <a:t>Ideal Use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sz="1800" b="0" i="0">
                          <a:solidFill>
                            <a:srgbClr val="003464"/>
                          </a:solidFill>
                          <a:latin typeface="Century Gothic"/>
                        </a:rPr>
                        <a:t>E-Commerce Fulfillment, Electronics Assembly, Warehousing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47600"/>
                  </a:ext>
                </a:extLst>
              </a:tr>
              <a:tr h="611067"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366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Ideal Use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31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Storage / Distribution</a:t>
                      </a:r>
                      <a:r>
                        <a:rPr lang="en-US" sz="1800" b="0" i="0" spc="0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 </a:t>
                      </a:r>
                      <a:r>
                        <a:rPr lang="en-US" sz="1800" b="0" i="0" spc="-75" dirty="0">
                          <a:solidFill>
                            <a:srgbClr val="003464"/>
                          </a:solidFill>
                          <a:effectLst/>
                          <a:latin typeface="Century Gothic" panose="020B0502020202020204" pitchFamily="34" charset="0"/>
                          <a:cs typeface="Century Gothic Paneuropean"/>
                        </a:rPr>
                        <a:t>Centers / Manufacturing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Century Gothic Paneuropean"/>
                      </a:endParaRPr>
                    </a:p>
                  </a:txBody>
                  <a:tcPr marT="4127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09018"/>
                  </a:ext>
                </a:extLst>
              </a:tr>
            </a:tbl>
          </a:graphicData>
        </a:graphic>
      </p:graphicFrame>
      <p:sp>
        <p:nvSpPr>
          <p:cNvPr id="23" name="Freeform 14">
            <a:extLst>
              <a:ext uri="{FF2B5EF4-FFF2-40B4-BE49-F238E27FC236}">
                <a16:creationId xmlns:a16="http://schemas.microsoft.com/office/drawing/2014/main" id="{D4BD1B25-6C7B-0DCF-174A-23D44AEA536B}"/>
              </a:ext>
            </a:extLst>
          </p:cNvPr>
          <p:cNvSpPr/>
          <p:nvPr/>
        </p:nvSpPr>
        <p:spPr>
          <a:xfrm>
            <a:off x="8257482" y="7939975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2BFC59-AB68-46F6-B92D-9AD97D76A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048" y="1989249"/>
            <a:ext cx="9860713" cy="73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33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350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22918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64" b="-21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848261" y="0"/>
            <a:ext cx="13439739" cy="10287000"/>
          </a:xfrm>
          <a:custGeom>
            <a:avLst/>
            <a:gdLst/>
            <a:ahLst/>
            <a:cxnLst/>
            <a:rect l="l" t="t" r="r" b="b"/>
            <a:pathLst>
              <a:path w="13439739" h="10287000">
                <a:moveTo>
                  <a:pt x="0" y="0"/>
                </a:moveTo>
                <a:lnTo>
                  <a:pt x="13439739" y="0"/>
                </a:lnTo>
                <a:lnTo>
                  <a:pt x="134397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"/>
            </a:blip>
            <a:stretch>
              <a:fillRect t="-2" b="-2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76931" y="8736381"/>
            <a:ext cx="1170006" cy="895542"/>
          </a:xfrm>
          <a:custGeom>
            <a:avLst/>
            <a:gdLst/>
            <a:ahLst/>
            <a:cxnLst/>
            <a:rect l="l" t="t" r="r" b="b"/>
            <a:pathLst>
              <a:path w="1170006" h="895542">
                <a:moveTo>
                  <a:pt x="0" y="0"/>
                </a:moveTo>
                <a:lnTo>
                  <a:pt x="1170007" y="0"/>
                </a:lnTo>
                <a:lnTo>
                  <a:pt x="1170007" y="895542"/>
                </a:lnTo>
                <a:lnTo>
                  <a:pt x="0" y="895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704557"/>
            <a:ext cx="480179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morant Garamond"/>
                <a:ea typeface="Cormorant Garamond"/>
                <a:cs typeface="Cormorant Garamond"/>
                <a:sym typeface="Cormorant Garamond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942807"/>
            <a:ext cx="9506837" cy="165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EEBA2B"/>
                </a:solidFill>
                <a:effectLst/>
                <a:uLnTx/>
                <a:uFillTx/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For more information and to schedule a viewing, feel free to contact us at: </a:t>
            </a:r>
          </a:p>
          <a:p>
            <a:pPr marL="0" marR="0" lvl="0" indent="0" algn="l" defTabSz="914400" rtl="0" eaLnBrk="1" fontAlgn="auto" latinLnBrk="0" hangingPunct="1">
              <a:lnSpc>
                <a:spcPts val="4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srgbClr val="EEBA2B"/>
              </a:solidFill>
              <a:effectLst/>
              <a:uLnTx/>
              <a:uFillTx/>
              <a:latin typeface="Cormorant Garamond Light"/>
              <a:ea typeface="Cormorant Garamond Light"/>
              <a:cs typeface="Cormorant Garamond Light"/>
              <a:sym typeface="Cormorant Garamond Light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88B5AEA3-EC5E-400D-86EE-FFF93471E315}"/>
              </a:ext>
            </a:extLst>
          </p:cNvPr>
          <p:cNvSpPr txBox="1"/>
          <p:nvPr/>
        </p:nvSpPr>
        <p:spPr>
          <a:xfrm>
            <a:off x="3656455" y="3783997"/>
            <a:ext cx="5673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t>Cedtrix Rena</a:t>
            </a:r>
          </a:p>
          <a:p>
            <a:r>
              <a:t>Sr. Leasing Advisor – Retail and Industrial Markets</a:t>
            </a:r>
          </a:p>
          <a:p>
            <a:r>
              <a:t>+63 917 625 3353</a:t>
            </a:r>
          </a:p>
          <a:p>
            <a:r>
              <a:t>cedtrix.rena@primephilippines.com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D0C1C34A-766A-41EF-92A6-E05C9CE06299}"/>
              </a:ext>
            </a:extLst>
          </p:cNvPr>
          <p:cNvSpPr txBox="1"/>
          <p:nvPr/>
        </p:nvSpPr>
        <p:spPr>
          <a:xfrm>
            <a:off x="3656455" y="6933996"/>
            <a:ext cx="458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t>Sondi Tuazon</a:t>
            </a:r>
          </a:p>
          <a:p>
            <a:r>
              <a:t>Sr. Head – Retail and Industrial Markets</a:t>
            </a:r>
          </a:p>
          <a:p>
            <a:r>
              <a:t>+63 917 843 6128</a:t>
            </a:r>
          </a:p>
          <a:p>
            <a:r>
              <a:t>sondituazon.primecorp@gmail.com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F1D943-8E8D-67E6-6EF1-76ADE06BA7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40" y="3527520"/>
            <a:ext cx="2298578" cy="22985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CC80EC-CA3A-5844-33B5-DE484322B0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93" y="6448166"/>
            <a:ext cx="2298577" cy="22985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8288000" cy="10287000"/>
            <a:chOff x="0" y="-3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53651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365191"/>
              <a:ext cx="5362575" cy="49218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9224" y="5365191"/>
              <a:ext cx="13058775" cy="4921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8224" y="-3"/>
              <a:ext cx="13439775" cy="102868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0449" y="3141598"/>
              <a:ext cx="2943479" cy="2445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9277" y="6152972"/>
              <a:ext cx="9431020" cy="8781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1306</Words>
  <Application>Microsoft Office PowerPoint</Application>
  <PresentationFormat>Custom</PresentationFormat>
  <Paragraphs>405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DM Sans</vt:lpstr>
      <vt:lpstr>Cormorant Garamond Light Italics</vt:lpstr>
      <vt:lpstr>Cormorant Garamond Italics</vt:lpstr>
      <vt:lpstr>Century Gothic</vt:lpstr>
      <vt:lpstr>Montserrat Semi-Bold</vt:lpstr>
      <vt:lpstr>Century Gothic Paneuropean</vt:lpstr>
      <vt:lpstr>Century Gothic Paneuropean Bold</vt:lpstr>
      <vt:lpstr>Montserrat</vt:lpstr>
      <vt:lpstr>Calibri</vt:lpstr>
      <vt:lpstr>Cormorant Garamond</vt:lpstr>
      <vt:lpstr>Cormorant Garamond Light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SCOMMERCE PHILIPPINES INC.</dc:title>
  <dc:creator>MKTG Philamer D. Jr</dc:creator>
  <cp:lastModifiedBy>Cedtrix Rena</cp:lastModifiedBy>
  <cp:revision>5</cp:revision>
  <dcterms:created xsi:type="dcterms:W3CDTF">2006-08-16T00:00:00Z</dcterms:created>
  <dcterms:modified xsi:type="dcterms:W3CDTF">2026-07-28T03:21:33Z</dcterms:modified>
  <dc:identifier>DAHLfh47l2o</dc:identifier>
</cp:coreProperties>
</file>